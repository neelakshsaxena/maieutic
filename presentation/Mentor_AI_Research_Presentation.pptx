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morning/afternoon. Today I present Mentor AI, codenamed Maieutic--referencing the Socratic art of intellectual midwifery. The project directly targets the core defect of commercial LLMs in education: providing direct answers rather than teaching students how to think. We introduce a decoupled multi-agent architecture powered by fine-tuned Qwen3-8B, backed by deterministic verification and persistent student modeling.</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we visually compare the two pedagogical paradigms. Notice the upper path: conventional LLMs jump straight from question to answer, inducing passive recall and false understanding. In contrast, the lower path shows Mentor AI's Socratic loop: breaking down the goal into prerequisite checkpoints, demanding an active student derivation, and strictly verifying understanding before progression.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visual hub-and-spoke diagram illustrates our core system objectives radiating from the central Mentor AI engine. Notice the rigorous academic distinction: the four peripheral pillars--guided scaffolding, prerequisite DAGs, strict verification, and persistent memory--are fully verified in code. The fifth node at the bottom--semantic vector memory via Qdrant--is explicitly labeled as Planned for Phase 3.</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our primary operational flowchart. Notice the sequential flow across the top from the student's initial goal to the active derivation attempt. At Step 6, the Verifier Agent acts as a deterministic decision gate. Branch A unlocks the next checkpoint upon true mastery. Branch B politely handles distractions without penalizing learning metrics. Branch C diagnoses the misconception, escalates the hint level, and loops back to Step 5 for another student attempt.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we show the actual software architecture implemented in the repository across five discrete tiers. Notice Tier 3: the AI Orchestration layer. We enforce strict decoupling between the Planner, Verifier, and Hint Agent. Tier 4 serves models asynchronously via vLLM on RunPod with dynamic LoRA adapter resolution, while Tier 5 persists learner mastery via Exponential Moving Averages in PostgreSQL.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visualizes the heartbeat of Mentor AI: the Socratic verification loop. Notice that our Verifier is not a text summarizer; it is an analytical grader. It outputs one of three explicit states: Correct, Partially Correct, or Incorrect. Notice the closed-loop guarantee at the bottom: an incorrect response does not result in the tutor doing the work for the student. It provides a targeted hint and returns the floor to the student.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our data engineering pipeline. On the left, our curated 13,859 multi-turn dataset with completion-only loss masking. On the right is a crucial empirical contribution: our diagnosis of the 'Consecutive Roles Bug'. We discovered that 13.5% of public MathDial conversations contained up to 8 assistant utterances in a row. This caused standard collators to compute loss on fractured turns, explaining why initial fine-tuning failed. Building custom normalization filters resolved this in Experiment 2.</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documents our iterative model development lifecycle. Phase 1 established Qwen3-8B as our base model. In Phase 2 (Experiment 1), we observed a failure mode due to contradictory data and consecutive turns. In Phase 3 (Experiment 2), we achieved our target Socratic alignment using 4-bit QLoRA. In Phase 4, we packaged the adapter into a lightweight 160MB artifact served on vLLM with dynamic hot-swapping.</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presents the exact deployment architecture verified in our repository. Notice the 3 deployment modes documented in DEPLOYMENT.md: RunPod serverless for production, hybrid for rapid UI dev, and full local Docker Compose. At the bottom, our operational sequence guarantees zero race conditions: the API container waits for PostgreSQL health before starting, and the frontend waits for the API /health check.</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are our empirical evaluation results. On the left, the Phase 2A behavioral scorecard proves that Experiment 2 achieved a +1.72 point surge in Answer Leakage Prevention (3.22 vs 1.50 in Exp 1). On the top right, MMLU retention at 74.7% confirms that QLoRA prevented catastrophic forgetting. On the bottom right, our automated pytest suite verifies 37/37 passing unit and integration tests across agents, backend, and pipeline.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credible academic defense must address its limitations candidly. First, sequential multi-agent latency: decoupling guarantees pedagogical safety but increases time-to-first-token. Second, conversational dataset flaws: consecutive turns disrupt standard attention collation. Third, hardware requirements: 24GB VRAM is necessary for 8B LoRA serving. Fourth, evaluation scope: our offline benchmarks verify architectural robustness, but live classroom randomized trials remain future work.</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synthesizes the entire arc of our research: from the initial problem of answer leakage, through our decoupled multi-agent approach, to our empirical evidence (+1.72 leakage drop and 37 passing tests). We conclude that an AI tutor can be systematically governed to teach through structured Socratic progression rather than passive answer delivery.</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our prioritized research roadmap structured across three distinct horizons. Near-term focuses on latency reduction by consolidating Verifier and Hint passes into a single structured output. Medium-term introduces Direct Preference Optimization (DPO) and activates Qdrant vector memory. Long-term targets the gold standard: randomized controlled trials in live classrooms.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references represent the foundational literature behind our research--spanning classical cognitive tutor principles by Anderson et al., active learning and self-explanation by Chi et al., LoRA and QLoRA parameter-efficient adaptation by Hu et al. and Dettmers et al., and the SuperMemo-2 spaced review algorithm by Wozniak.</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Thank you, respected members of the committee. Mentor AI proves that large language models can be systematically governed and fine-tuned to act as true Socratic tutors rather than answer engines. I welcome your questions, critique, and discussion.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914400" y="822960"/>
            <a:ext cx="10362895" cy="320040"/>
          </a:xfrm>
          <a:prstGeom prst="rect">
            <a:avLst/>
          </a:prstGeom>
          <a:noFill/>
        </p:spPr>
        <p:txBody>
          <a:bodyPr wrap="none" lIns="0" tIns="0" rIns="0" bIns="0">
            <a:spAutoFit/>
          </a:bodyPr>
          <a:lstStyle/>
          <a:p>
            <a:pPr>
              <a:defRPr sz="1100" b="1">
                <a:solidFill>
                  <a:srgbClr val="2563EB"/>
                </a:solidFill>
                <a:latin typeface="Calibri"/>
              </a:defRPr>
            </a:pPr>
            <a:r>
              <a:t>ACADEMIC RESEARCH PRESENTATION  -  INTELLIGENT TUTORING SYSTEMS</a:t>
            </a:r>
          </a:p>
        </p:txBody>
      </p:sp>
      <p:sp>
        <p:nvSpPr>
          <p:cNvPr id="3" name="TextBox 2"/>
          <p:cNvSpPr txBox="1"/>
          <p:nvPr/>
        </p:nvSpPr>
        <p:spPr>
          <a:xfrm>
            <a:off x="914400" y="1188720"/>
            <a:ext cx="10362895" cy="1005840"/>
          </a:xfrm>
          <a:prstGeom prst="rect">
            <a:avLst/>
          </a:prstGeom>
          <a:noFill/>
        </p:spPr>
        <p:txBody>
          <a:bodyPr wrap="square" lIns="0" tIns="0" rIns="0" bIns="0">
            <a:spAutoFit/>
          </a:bodyPr>
          <a:lstStyle/>
          <a:p>
            <a:pPr>
              <a:defRPr sz="4000" b="1">
                <a:solidFill>
                  <a:srgbClr val="0F172A"/>
                </a:solidFill>
                <a:latin typeface="Calibri"/>
              </a:defRPr>
            </a:pPr>
            <a:r>
              <a:t>Mentor AI (Maieutic)</a:t>
            </a:r>
          </a:p>
        </p:txBody>
      </p:sp>
      <p:sp>
        <p:nvSpPr>
          <p:cNvPr id="4" name="TextBox 3"/>
          <p:cNvSpPr txBox="1"/>
          <p:nvPr/>
        </p:nvSpPr>
        <p:spPr>
          <a:xfrm>
            <a:off x="914400" y="2148840"/>
            <a:ext cx="10362895" cy="594360"/>
          </a:xfrm>
          <a:prstGeom prst="rect">
            <a:avLst/>
          </a:prstGeom>
          <a:noFill/>
        </p:spPr>
        <p:txBody>
          <a:bodyPr wrap="square" lIns="0" tIns="0" rIns="0" bIns="0">
            <a:spAutoFit/>
          </a:bodyPr>
          <a:lstStyle/>
          <a:p>
            <a:pPr>
              <a:defRPr sz="1500">
                <a:solidFill>
                  <a:srgbClr val="334155"/>
                </a:solidFill>
                <a:latin typeface="Calibri"/>
              </a:defRPr>
            </a:pPr>
            <a:r>
              <a:t>An AI-Powered Socratic Tutoring System with Decoupled Architectural Scaffolding, Dynamic Verification, and Persistent Student Modeling</a:t>
            </a:r>
          </a:p>
        </p:txBody>
      </p:sp>
      <p:sp>
        <p:nvSpPr>
          <p:cNvPr id="5" name="Rounded Rectangle 4"/>
          <p:cNvSpPr/>
          <p:nvPr/>
        </p:nvSpPr>
        <p:spPr>
          <a:xfrm>
            <a:off x="914400" y="2926080"/>
            <a:ext cx="2194560" cy="182880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97280" y="3108960"/>
            <a:ext cx="1828800" cy="1463040"/>
          </a:xfrm>
          <a:prstGeom prst="rect">
            <a:avLst/>
          </a:prstGeom>
          <a:noFill/>
        </p:spPr>
        <p:txBody>
          <a:bodyPr wrap="square" lIns="0" tIns="0" rIns="0" bIns="0">
            <a:spAutoFit/>
          </a:bodyPr>
          <a:lstStyle/>
          <a:p>
            <a:pPr>
              <a:spcAft>
                <a:spcPts val="800"/>
              </a:spcAft>
              <a:defRPr sz="1300" b="1">
                <a:solidFill>
                  <a:srgbClr val="0F172A"/>
                </a:solidFill>
                <a:latin typeface="Calibri"/>
              </a:defRPr>
            </a:pPr>
            <a:r>
              <a:t>1. Goal Formulation</a:t>
            </a:r>
          </a:p>
          <a:p>
            <a:pPr>
              <a:defRPr sz="1050">
                <a:solidFill>
                  <a:srgbClr val="334155"/>
                </a:solidFill>
                <a:latin typeface="Calibri"/>
              </a:defRPr>
            </a:pPr>
            <a:r>
              <a:t>Problem query decomposed into prerequisite concepts.</a:t>
            </a:r>
          </a:p>
        </p:txBody>
      </p:sp>
      <p:sp>
        <p:nvSpPr>
          <p:cNvPr id="7" name="TextBox 6"/>
          <p:cNvSpPr txBox="1"/>
          <p:nvPr/>
        </p:nvSpPr>
        <p:spPr>
          <a:xfrm>
            <a:off x="3218688" y="3657600"/>
            <a:ext cx="320040" cy="365760"/>
          </a:xfrm>
          <a:prstGeom prst="rect">
            <a:avLst/>
          </a:prstGeom>
          <a:noFill/>
        </p:spPr>
        <p:txBody>
          <a:bodyPr wrap="none" lIns="0" tIns="0" rIns="0" bIns="0">
            <a:spAutoFit/>
          </a:bodyPr>
          <a:lstStyle/>
          <a:p>
            <a:pPr>
              <a:defRPr sz="1800" b="1">
                <a:solidFill>
                  <a:srgbClr val="64748B"/>
                </a:solidFill>
                <a:latin typeface="Calibri"/>
              </a:defRPr>
            </a:pPr>
            <a:r>
              <a:t>-&gt;</a:t>
            </a:r>
          </a:p>
        </p:txBody>
      </p:sp>
      <p:sp>
        <p:nvSpPr>
          <p:cNvPr id="8" name="Rounded Rectangle 7"/>
          <p:cNvSpPr/>
          <p:nvPr/>
        </p:nvSpPr>
        <p:spPr>
          <a:xfrm>
            <a:off x="3639312" y="2926080"/>
            <a:ext cx="2194560" cy="182880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822192" y="3108960"/>
            <a:ext cx="1828800" cy="1463040"/>
          </a:xfrm>
          <a:prstGeom prst="rect">
            <a:avLst/>
          </a:prstGeom>
          <a:noFill/>
        </p:spPr>
        <p:txBody>
          <a:bodyPr wrap="square" lIns="0" tIns="0" rIns="0" bIns="0">
            <a:spAutoFit/>
          </a:bodyPr>
          <a:lstStyle/>
          <a:p>
            <a:pPr>
              <a:spcAft>
                <a:spcPts val="800"/>
              </a:spcAft>
              <a:defRPr sz="1300" b="1">
                <a:solidFill>
                  <a:srgbClr val="0F172A"/>
                </a:solidFill>
                <a:latin typeface="Calibri"/>
              </a:defRPr>
            </a:pPr>
            <a:r>
              <a:t>2. Checkpoint Task</a:t>
            </a:r>
          </a:p>
          <a:p>
            <a:pPr>
              <a:defRPr sz="1050">
                <a:solidFill>
                  <a:srgbClr val="334155"/>
                </a:solidFill>
                <a:latin typeface="Calibri"/>
              </a:defRPr>
            </a:pPr>
            <a:r>
              <a:t>Active prompt requiring student derivation attempt.</a:t>
            </a:r>
          </a:p>
        </p:txBody>
      </p:sp>
      <p:sp>
        <p:nvSpPr>
          <p:cNvPr id="10" name="TextBox 9"/>
          <p:cNvSpPr txBox="1"/>
          <p:nvPr/>
        </p:nvSpPr>
        <p:spPr>
          <a:xfrm>
            <a:off x="5943600" y="3657600"/>
            <a:ext cx="320040" cy="365760"/>
          </a:xfrm>
          <a:prstGeom prst="rect">
            <a:avLst/>
          </a:prstGeom>
          <a:noFill/>
        </p:spPr>
        <p:txBody>
          <a:bodyPr wrap="none" lIns="0" tIns="0" rIns="0" bIns="0">
            <a:spAutoFit/>
          </a:bodyPr>
          <a:lstStyle/>
          <a:p>
            <a:pPr>
              <a:defRPr sz="1800" b="1">
                <a:solidFill>
                  <a:srgbClr val="64748B"/>
                </a:solidFill>
                <a:latin typeface="Calibri"/>
              </a:defRPr>
            </a:pPr>
            <a:r>
              <a:t>-&gt;</a:t>
            </a:r>
          </a:p>
        </p:txBody>
      </p:sp>
      <p:sp>
        <p:nvSpPr>
          <p:cNvPr id="11" name="Rounded Rectangle 10"/>
          <p:cNvSpPr/>
          <p:nvPr/>
        </p:nvSpPr>
        <p:spPr>
          <a:xfrm>
            <a:off x="6364224" y="2926080"/>
            <a:ext cx="2194560" cy="1828800"/>
          </a:xfrm>
          <a:prstGeom prst="roundRect">
            <a:avLst/>
          </a:prstGeom>
          <a:solidFill>
            <a:srgbClr val="EFF6FF"/>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47104" y="3108960"/>
            <a:ext cx="1828800" cy="1463040"/>
          </a:xfrm>
          <a:prstGeom prst="rect">
            <a:avLst/>
          </a:prstGeom>
          <a:noFill/>
        </p:spPr>
        <p:txBody>
          <a:bodyPr wrap="square" lIns="0" tIns="0" rIns="0" bIns="0">
            <a:spAutoFit/>
          </a:bodyPr>
          <a:lstStyle/>
          <a:p>
            <a:pPr>
              <a:spcAft>
                <a:spcPts val="800"/>
              </a:spcAft>
              <a:defRPr sz="1300" b="1">
                <a:solidFill>
                  <a:srgbClr val="2563EB"/>
                </a:solidFill>
                <a:latin typeface="Calibri"/>
              </a:defRPr>
            </a:pPr>
            <a:r>
              <a:t>3. Strict Verification</a:t>
            </a:r>
          </a:p>
          <a:p>
            <a:pPr>
              <a:defRPr sz="1050">
                <a:solidFill>
                  <a:srgbClr val="334155"/>
                </a:solidFill>
                <a:latin typeface="Calibri"/>
              </a:defRPr>
            </a:pPr>
            <a:r>
              <a:t>Deterministic evaluation of criteria without leakage.</a:t>
            </a:r>
          </a:p>
        </p:txBody>
      </p:sp>
      <p:sp>
        <p:nvSpPr>
          <p:cNvPr id="13" name="TextBox 12"/>
          <p:cNvSpPr txBox="1"/>
          <p:nvPr/>
        </p:nvSpPr>
        <p:spPr>
          <a:xfrm>
            <a:off x="8668512" y="3657600"/>
            <a:ext cx="320040" cy="365760"/>
          </a:xfrm>
          <a:prstGeom prst="rect">
            <a:avLst/>
          </a:prstGeom>
          <a:noFill/>
        </p:spPr>
        <p:txBody>
          <a:bodyPr wrap="none" lIns="0" tIns="0" rIns="0" bIns="0">
            <a:spAutoFit/>
          </a:bodyPr>
          <a:lstStyle/>
          <a:p>
            <a:pPr>
              <a:defRPr sz="1800" b="1">
                <a:solidFill>
                  <a:srgbClr val="64748B"/>
                </a:solidFill>
                <a:latin typeface="Calibri"/>
              </a:defRPr>
            </a:pPr>
            <a:r>
              <a:t>-&gt;</a:t>
            </a:r>
          </a:p>
        </p:txBody>
      </p:sp>
      <p:sp>
        <p:nvSpPr>
          <p:cNvPr id="14" name="Rounded Rectangle 13"/>
          <p:cNvSpPr/>
          <p:nvPr/>
        </p:nvSpPr>
        <p:spPr>
          <a:xfrm>
            <a:off x="9089136" y="2926080"/>
            <a:ext cx="2194560" cy="1828800"/>
          </a:xfrm>
          <a:prstGeom prst="roundRect">
            <a:avLst/>
          </a:prstGeom>
          <a:solidFill>
            <a:srgbClr val="ECFDF5"/>
          </a:solidFill>
          <a:ln w="12700">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272016" y="3108960"/>
            <a:ext cx="1828800" cy="1463040"/>
          </a:xfrm>
          <a:prstGeom prst="rect">
            <a:avLst/>
          </a:prstGeom>
          <a:noFill/>
        </p:spPr>
        <p:txBody>
          <a:bodyPr wrap="square" lIns="0" tIns="0" rIns="0" bIns="0">
            <a:spAutoFit/>
          </a:bodyPr>
          <a:lstStyle/>
          <a:p>
            <a:pPr>
              <a:spcAft>
                <a:spcPts val="800"/>
              </a:spcAft>
              <a:defRPr sz="1300" b="1">
                <a:solidFill>
                  <a:srgbClr val="059669"/>
                </a:solidFill>
                <a:latin typeface="Calibri"/>
              </a:defRPr>
            </a:pPr>
            <a:r>
              <a:t>4. Persistent Mastery</a:t>
            </a:r>
          </a:p>
          <a:p>
            <a:pPr>
              <a:defRPr sz="1050">
                <a:solidFill>
                  <a:srgbClr val="334155"/>
                </a:solidFill>
                <a:latin typeface="Calibri"/>
              </a:defRPr>
            </a:pPr>
            <a:r>
              <a:t>Student Brain tracks EMA mastery &amp; spaced review.</a:t>
            </a:r>
          </a:p>
        </p:txBody>
      </p:sp>
      <p:sp>
        <p:nvSpPr>
          <p:cNvPr id="16" name="TextBox 15"/>
          <p:cNvSpPr txBox="1"/>
          <p:nvPr/>
        </p:nvSpPr>
        <p:spPr>
          <a:xfrm>
            <a:off x="914400" y="5303520"/>
            <a:ext cx="10362895" cy="731520"/>
          </a:xfrm>
          <a:prstGeom prst="rect">
            <a:avLst/>
          </a:prstGeom>
          <a:noFill/>
        </p:spPr>
        <p:txBody>
          <a:bodyPr wrap="square" lIns="0" tIns="0" rIns="0" bIns="0">
            <a:spAutoFit/>
          </a:bodyPr>
          <a:lstStyle/>
          <a:p>
            <a:pPr>
              <a:defRPr sz="1000">
                <a:solidFill>
                  <a:srgbClr val="64748B"/>
                </a:solidFill>
                <a:latin typeface="Calibri"/>
              </a:defRPr>
            </a:pPr>
            <a:r>
              <a:t>CORE RESEARCH DOMAIN: Artificial Intelligence in Education - Parameter-Efficient Alignment (LoRA) - Multi-Agent Governance</a:t>
            </a:r>
            <a:br/>
            <a:r>
              <a:t>STACK: Qwen/Qwen3-8B - FastAPI Orchestrator - Next.js 15+ - vLLM Inference Engine - PostgreSQL Student Brain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65760"/>
            <a:ext cx="10728655" cy="274320"/>
          </a:xfrm>
          <a:prstGeom prst="rect">
            <a:avLst/>
          </a:prstGeom>
          <a:noFill/>
        </p:spPr>
        <p:txBody>
          <a:bodyPr wrap="square" lIns="0" tIns="0" rIns="0" bIns="0">
            <a:spAutoFit/>
          </a:bodyPr>
          <a:lstStyle/>
          <a:p>
            <a:pPr>
              <a:defRPr sz="1000" b="1">
                <a:solidFill>
                  <a:srgbClr val="2563EB"/>
                </a:solidFill>
                <a:latin typeface="Calibri"/>
              </a:defRPr>
            </a:pPr>
            <a:r>
              <a:t>SECTION 2 - THE LEARNING PROBLEM</a:t>
            </a:r>
            <a:r>
              <a:rPr sz="1000" b="0">
                <a:solidFill>
                  <a:srgbClr val="64748B"/>
                </a:solidFill>
                <a:latin typeface="Calibri"/>
              </a:rPr>
              <a:t>  -  PARADIGM SHIFT: ANSWER-FIRST VS. SOCRATIC-FIRST</a:t>
            </a:r>
          </a:p>
        </p:txBody>
      </p:sp>
      <p:sp>
        <p:nvSpPr>
          <p:cNvPr id="3" name="TextBox 2"/>
          <p:cNvSpPr txBox="1"/>
          <p:nvPr/>
        </p:nvSpPr>
        <p:spPr>
          <a:xfrm>
            <a:off x="731520" y="640080"/>
            <a:ext cx="10728655" cy="594360"/>
          </a:xfrm>
          <a:prstGeom prst="rect">
            <a:avLst/>
          </a:prstGeom>
          <a:noFill/>
        </p:spPr>
        <p:txBody>
          <a:bodyPr wrap="square" lIns="0" tIns="0" rIns="0" bIns="0">
            <a:spAutoFit/>
          </a:bodyPr>
          <a:lstStyle/>
          <a:p>
            <a:pPr>
              <a:defRPr sz="2400" b="1">
                <a:solidFill>
                  <a:srgbClr val="0F172A"/>
                </a:solidFill>
                <a:latin typeface="Calibri"/>
              </a:defRPr>
            </a:pPr>
            <a:r>
              <a:t>The Pedagogical Failure of Conventional LLM Assistants</a:t>
            </a:r>
          </a:p>
        </p:txBody>
      </p:sp>
      <p:sp>
        <p:nvSpPr>
          <p:cNvPr id="4" name="Rounded Rectangle 3"/>
          <p:cNvSpPr/>
          <p:nvPr/>
        </p:nvSpPr>
        <p:spPr>
          <a:xfrm>
            <a:off x="731520" y="1371600"/>
            <a:ext cx="10728655" cy="59436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444752"/>
            <a:ext cx="10362895" cy="457200"/>
          </a:xfrm>
          <a:prstGeom prst="rect">
            <a:avLst/>
          </a:prstGeom>
          <a:noFill/>
        </p:spPr>
        <p:txBody>
          <a:bodyPr wrap="square" lIns="0" tIns="0" rIns="0" bIns="0">
            <a:spAutoFit/>
          </a:bodyPr>
          <a:lstStyle/>
          <a:p>
            <a:pPr>
              <a:defRPr sz="1100">
                <a:solidFill>
                  <a:srgbClr val="0F172A"/>
                </a:solidFill>
                <a:latin typeface="Calibri"/>
              </a:defRPr>
            </a:pPr>
            <a:r>
              <a:t>CORE PROBLEM: Conventional LLMs are optimized as reactive task-completers. By immediately revealing answers, they eliminate the productive cognitive struggle required for genuine long-term learning [Chi et al., 2001; Anderson et al., 1995].</a:t>
            </a:r>
          </a:p>
        </p:txBody>
      </p:sp>
      <p:sp>
        <p:nvSpPr>
          <p:cNvPr id="6" name="Rounded Rectangle 5"/>
          <p:cNvSpPr/>
          <p:nvPr/>
        </p:nvSpPr>
        <p:spPr>
          <a:xfrm>
            <a:off x="731520" y="2148840"/>
            <a:ext cx="10728655" cy="1828800"/>
          </a:xfrm>
          <a:prstGeom prst="roundRect">
            <a:avLst/>
          </a:prstGeom>
          <a:solidFill>
            <a:srgbClr val="FEF2F2"/>
          </a:solidFill>
          <a:ln w="12700">
            <a:solidFill>
              <a:srgbClr val="DC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286000"/>
            <a:ext cx="10362895" cy="320040"/>
          </a:xfrm>
          <a:prstGeom prst="rect">
            <a:avLst/>
          </a:prstGeom>
          <a:noFill/>
        </p:spPr>
        <p:txBody>
          <a:bodyPr wrap="none" lIns="0" tIns="0" rIns="0" bIns="0">
            <a:spAutoFit/>
          </a:bodyPr>
          <a:lstStyle/>
          <a:p>
            <a:pPr>
              <a:defRPr sz="1200" b="1">
                <a:solidFill>
                  <a:srgbClr val="DC2626"/>
                </a:solidFill>
                <a:latin typeface="Calibri"/>
              </a:defRPr>
            </a:pPr>
            <a:r>
              <a:t>CONVENTIONAL AI ASSISTANT (ANSWER-FIRST PARADIGM)</a:t>
            </a:r>
          </a:p>
        </p:txBody>
      </p:sp>
      <p:sp>
        <p:nvSpPr>
          <p:cNvPr id="8" name="Rounded Rectangle 7"/>
          <p:cNvSpPr/>
          <p:nvPr/>
        </p:nvSpPr>
        <p:spPr>
          <a:xfrm>
            <a:off x="914400" y="2651760"/>
            <a:ext cx="2926080" cy="1097280"/>
          </a:xfrm>
          <a:prstGeom prst="roundRect">
            <a:avLst/>
          </a:prstGeom>
          <a:solidFill>
            <a:srgbClr val="FFFFFF"/>
          </a:solidFill>
          <a:ln w="12700">
            <a:solidFill>
              <a:srgbClr val="DC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51560" y="2724912"/>
            <a:ext cx="2651760" cy="914400"/>
          </a:xfrm>
          <a:prstGeom prst="rect">
            <a:avLst/>
          </a:prstGeom>
          <a:noFill/>
        </p:spPr>
        <p:txBody>
          <a:bodyPr wrap="square" lIns="0" tIns="0" rIns="0" bIns="0">
            <a:spAutoFit/>
          </a:bodyPr>
          <a:lstStyle/>
          <a:p>
            <a:pPr>
              <a:defRPr sz="1150" b="1">
                <a:solidFill>
                  <a:srgbClr val="DC2626"/>
                </a:solidFill>
                <a:latin typeface="Calibri"/>
              </a:defRPr>
            </a:pPr>
            <a:r>
              <a:t>1. Student Question</a:t>
            </a:r>
          </a:p>
          <a:p>
            <a:pPr>
              <a:defRPr sz="1000">
                <a:solidFill>
                  <a:srgbClr val="334155"/>
                </a:solidFill>
                <a:latin typeface="Calibri"/>
              </a:defRPr>
            </a:pPr>
            <a:r>
              <a:t>User submits problem query</a:t>
            </a:r>
          </a:p>
        </p:txBody>
      </p:sp>
      <p:sp>
        <p:nvSpPr>
          <p:cNvPr id="10" name="Rounded Rectangle 9"/>
          <p:cNvSpPr/>
          <p:nvPr/>
        </p:nvSpPr>
        <p:spPr>
          <a:xfrm>
            <a:off x="4297680" y="2651760"/>
            <a:ext cx="2926080" cy="1097280"/>
          </a:xfrm>
          <a:prstGeom prst="roundRect">
            <a:avLst/>
          </a:prstGeom>
          <a:solidFill>
            <a:srgbClr val="FFFFFF"/>
          </a:solidFill>
          <a:ln w="12700">
            <a:solidFill>
              <a:srgbClr val="DC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34840" y="2724912"/>
            <a:ext cx="2651760" cy="914400"/>
          </a:xfrm>
          <a:prstGeom prst="rect">
            <a:avLst/>
          </a:prstGeom>
          <a:noFill/>
        </p:spPr>
        <p:txBody>
          <a:bodyPr wrap="square" lIns="0" tIns="0" rIns="0" bIns="0">
            <a:spAutoFit/>
          </a:bodyPr>
          <a:lstStyle/>
          <a:p>
            <a:pPr>
              <a:defRPr sz="1150" b="1">
                <a:solidFill>
                  <a:srgbClr val="DC2626"/>
                </a:solidFill>
                <a:latin typeface="Calibri"/>
              </a:defRPr>
            </a:pPr>
            <a:r>
              <a:t>2. Direct Answer Generation</a:t>
            </a:r>
          </a:p>
          <a:p>
            <a:pPr>
              <a:defRPr sz="1000">
                <a:solidFill>
                  <a:srgbClr val="334155"/>
                </a:solidFill>
                <a:latin typeface="Calibri"/>
              </a:defRPr>
            </a:pPr>
            <a:r>
              <a:t>LLM immediately outputs solution &amp; code</a:t>
            </a:r>
          </a:p>
        </p:txBody>
      </p:sp>
      <p:sp>
        <p:nvSpPr>
          <p:cNvPr id="12" name="Rounded Rectangle 11"/>
          <p:cNvSpPr/>
          <p:nvPr/>
        </p:nvSpPr>
        <p:spPr>
          <a:xfrm>
            <a:off x="7680960" y="2651760"/>
            <a:ext cx="2926080" cy="1097280"/>
          </a:xfrm>
          <a:prstGeom prst="roundRect">
            <a:avLst/>
          </a:prstGeom>
          <a:solidFill>
            <a:srgbClr val="FFFFFF"/>
          </a:solidFill>
          <a:ln w="12700">
            <a:solidFill>
              <a:srgbClr val="DC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818120" y="2724912"/>
            <a:ext cx="2651760" cy="914400"/>
          </a:xfrm>
          <a:prstGeom prst="rect">
            <a:avLst/>
          </a:prstGeom>
          <a:noFill/>
        </p:spPr>
        <p:txBody>
          <a:bodyPr wrap="square" lIns="0" tIns="0" rIns="0" bIns="0">
            <a:spAutoFit/>
          </a:bodyPr>
          <a:lstStyle/>
          <a:p>
            <a:pPr>
              <a:defRPr sz="1150" b="1">
                <a:solidFill>
                  <a:srgbClr val="DC2626"/>
                </a:solidFill>
                <a:latin typeface="Calibri"/>
              </a:defRPr>
            </a:pPr>
            <a:r>
              <a:t>3. Passive Consumption</a:t>
            </a:r>
          </a:p>
          <a:p>
            <a:pPr>
              <a:defRPr sz="1000">
                <a:solidFill>
                  <a:srgbClr val="334155"/>
                </a:solidFill>
                <a:latin typeface="Calibri"/>
              </a:defRPr>
            </a:pPr>
            <a:r>
              <a:t>False understanding; cognitive deficit</a:t>
            </a:r>
          </a:p>
        </p:txBody>
      </p:sp>
      <p:sp>
        <p:nvSpPr>
          <p:cNvPr id="14" name="TextBox 13"/>
          <p:cNvSpPr txBox="1"/>
          <p:nvPr/>
        </p:nvSpPr>
        <p:spPr>
          <a:xfrm>
            <a:off x="3931920" y="3017520"/>
            <a:ext cx="320040" cy="365760"/>
          </a:xfrm>
          <a:prstGeom prst="rect">
            <a:avLst/>
          </a:prstGeom>
          <a:noFill/>
        </p:spPr>
        <p:txBody>
          <a:bodyPr wrap="none">
            <a:spAutoFit/>
          </a:bodyPr>
          <a:lstStyle/>
          <a:p>
            <a:pPr>
              <a:defRPr sz="1800" b="1">
                <a:solidFill>
                  <a:srgbClr val="DC2626"/>
                </a:solidFill>
              </a:defRPr>
            </a:pPr>
            <a:r>
              <a:t>-&gt;</a:t>
            </a:r>
          </a:p>
        </p:txBody>
      </p:sp>
      <p:sp>
        <p:nvSpPr>
          <p:cNvPr id="15" name="TextBox 14"/>
          <p:cNvSpPr txBox="1"/>
          <p:nvPr/>
        </p:nvSpPr>
        <p:spPr>
          <a:xfrm>
            <a:off x="7315200" y="3017520"/>
            <a:ext cx="320040" cy="365760"/>
          </a:xfrm>
          <a:prstGeom prst="rect">
            <a:avLst/>
          </a:prstGeom>
          <a:noFill/>
        </p:spPr>
        <p:txBody>
          <a:bodyPr wrap="none">
            <a:spAutoFit/>
          </a:bodyPr>
          <a:lstStyle/>
          <a:p>
            <a:pPr>
              <a:defRPr sz="1800" b="1">
                <a:solidFill>
                  <a:srgbClr val="DC2626"/>
                </a:solidFill>
              </a:defRPr>
            </a:pPr>
            <a:r>
              <a:t>-&gt;</a:t>
            </a:r>
          </a:p>
        </p:txBody>
      </p:sp>
      <p:sp>
        <p:nvSpPr>
          <p:cNvPr id="16" name="Rounded Rectangle 15"/>
          <p:cNvSpPr/>
          <p:nvPr/>
        </p:nvSpPr>
        <p:spPr>
          <a:xfrm>
            <a:off x="731520" y="4160520"/>
            <a:ext cx="10728655" cy="1920240"/>
          </a:xfrm>
          <a:prstGeom prst="roundRect">
            <a:avLst/>
          </a:prstGeom>
          <a:solidFill>
            <a:srgbClr val="EFF6FF"/>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14400" y="4297680"/>
            <a:ext cx="10362895" cy="320040"/>
          </a:xfrm>
          <a:prstGeom prst="rect">
            <a:avLst/>
          </a:prstGeom>
          <a:noFill/>
        </p:spPr>
        <p:txBody>
          <a:bodyPr wrap="none" lIns="0" tIns="0" rIns="0" bIns="0">
            <a:spAutoFit/>
          </a:bodyPr>
          <a:lstStyle/>
          <a:p>
            <a:pPr>
              <a:defRPr sz="1200" b="1">
                <a:solidFill>
                  <a:srgbClr val="2563EB"/>
                </a:solidFill>
                <a:latin typeface="Calibri"/>
              </a:defRPr>
            </a:pPr>
            <a:r>
              <a:t>MENTOR AI / MAIEUTIC (SOCRATIC-FIRST PARADIGM)</a:t>
            </a:r>
          </a:p>
        </p:txBody>
      </p:sp>
      <p:sp>
        <p:nvSpPr>
          <p:cNvPr id="18" name="Rounded Rectangle 17"/>
          <p:cNvSpPr/>
          <p:nvPr/>
        </p:nvSpPr>
        <p:spPr>
          <a:xfrm>
            <a:off x="914400" y="4663440"/>
            <a:ext cx="1691640" cy="1188720"/>
          </a:xfrm>
          <a:prstGeom prst="roundRect">
            <a:avLst/>
          </a:prstGeom>
          <a:solidFill>
            <a:srgbClr val="FFFFFF"/>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24128" y="4736592"/>
            <a:ext cx="1472184" cy="1005840"/>
          </a:xfrm>
          <a:prstGeom prst="rect">
            <a:avLst/>
          </a:prstGeom>
          <a:noFill/>
        </p:spPr>
        <p:txBody>
          <a:bodyPr wrap="square" lIns="0" tIns="0" rIns="0" bIns="0">
            <a:spAutoFit/>
          </a:bodyPr>
          <a:lstStyle/>
          <a:p>
            <a:pPr>
              <a:defRPr sz="1100" b="1">
                <a:solidFill>
                  <a:srgbClr val="2563EB"/>
                </a:solidFill>
                <a:latin typeface="Calibri"/>
              </a:defRPr>
            </a:pPr>
            <a:r>
              <a:t>1. Goal Query</a:t>
            </a:r>
          </a:p>
          <a:p>
            <a:pPr>
              <a:defRPr sz="950">
                <a:solidFill>
                  <a:srgbClr val="334155"/>
                </a:solidFill>
                <a:latin typeface="Calibri"/>
              </a:defRPr>
            </a:pPr>
            <a:r>
              <a:t>Submits problem</a:t>
            </a:r>
          </a:p>
        </p:txBody>
      </p:sp>
      <p:sp>
        <p:nvSpPr>
          <p:cNvPr id="20" name="Rounded Rectangle 19"/>
          <p:cNvSpPr/>
          <p:nvPr/>
        </p:nvSpPr>
        <p:spPr>
          <a:xfrm>
            <a:off x="2971800" y="4663440"/>
            <a:ext cx="1691640" cy="1188720"/>
          </a:xfrm>
          <a:prstGeom prst="roundRect">
            <a:avLst/>
          </a:prstGeom>
          <a:solidFill>
            <a:srgbClr val="FFFFFF"/>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081528" y="4736592"/>
            <a:ext cx="1472184" cy="1005840"/>
          </a:xfrm>
          <a:prstGeom prst="rect">
            <a:avLst/>
          </a:prstGeom>
          <a:noFill/>
        </p:spPr>
        <p:txBody>
          <a:bodyPr wrap="square" lIns="0" tIns="0" rIns="0" bIns="0">
            <a:spAutoFit/>
          </a:bodyPr>
          <a:lstStyle/>
          <a:p>
            <a:pPr>
              <a:defRPr sz="1100" b="1">
                <a:solidFill>
                  <a:srgbClr val="2563EB"/>
                </a:solidFill>
                <a:latin typeface="Calibri"/>
              </a:defRPr>
            </a:pPr>
            <a:r>
              <a:t>2. DAG Plan</a:t>
            </a:r>
          </a:p>
          <a:p>
            <a:pPr>
              <a:defRPr sz="950">
                <a:solidFill>
                  <a:srgbClr val="334155"/>
                </a:solidFill>
                <a:latin typeface="Calibri"/>
              </a:defRPr>
            </a:pPr>
            <a:r>
              <a:t>Prerequisite nodes</a:t>
            </a:r>
          </a:p>
        </p:txBody>
      </p:sp>
      <p:sp>
        <p:nvSpPr>
          <p:cNvPr id="22" name="Rounded Rectangle 21"/>
          <p:cNvSpPr/>
          <p:nvPr/>
        </p:nvSpPr>
        <p:spPr>
          <a:xfrm>
            <a:off x="5029200" y="4663440"/>
            <a:ext cx="1691640" cy="1188720"/>
          </a:xfrm>
          <a:prstGeom prst="roundRect">
            <a:avLst/>
          </a:prstGeom>
          <a:solidFill>
            <a:srgbClr val="FFFFFF"/>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138928" y="4736592"/>
            <a:ext cx="1472184" cy="1005840"/>
          </a:xfrm>
          <a:prstGeom prst="rect">
            <a:avLst/>
          </a:prstGeom>
          <a:noFill/>
        </p:spPr>
        <p:txBody>
          <a:bodyPr wrap="square" lIns="0" tIns="0" rIns="0" bIns="0">
            <a:spAutoFit/>
          </a:bodyPr>
          <a:lstStyle/>
          <a:p>
            <a:pPr>
              <a:defRPr sz="1100" b="1">
                <a:solidFill>
                  <a:srgbClr val="2563EB"/>
                </a:solidFill>
                <a:latin typeface="Calibri"/>
              </a:defRPr>
            </a:pPr>
            <a:r>
              <a:t>3. Attempt</a:t>
            </a:r>
          </a:p>
          <a:p>
            <a:pPr>
              <a:defRPr sz="950">
                <a:solidFill>
                  <a:srgbClr val="334155"/>
                </a:solidFill>
                <a:latin typeface="Calibri"/>
              </a:defRPr>
            </a:pPr>
            <a:r>
              <a:t>Derivation effort</a:t>
            </a:r>
          </a:p>
        </p:txBody>
      </p:sp>
      <p:sp>
        <p:nvSpPr>
          <p:cNvPr id="24" name="Rounded Rectangle 23"/>
          <p:cNvSpPr/>
          <p:nvPr/>
        </p:nvSpPr>
        <p:spPr>
          <a:xfrm>
            <a:off x="7086600" y="4663440"/>
            <a:ext cx="1691640" cy="1188720"/>
          </a:xfrm>
          <a:prstGeom prst="roundRect">
            <a:avLst/>
          </a:prstGeom>
          <a:solidFill>
            <a:srgbClr val="FFFFFF"/>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196328" y="4736592"/>
            <a:ext cx="1472184" cy="1005840"/>
          </a:xfrm>
          <a:prstGeom prst="rect">
            <a:avLst/>
          </a:prstGeom>
          <a:noFill/>
        </p:spPr>
        <p:txBody>
          <a:bodyPr wrap="square" lIns="0" tIns="0" rIns="0" bIns="0">
            <a:spAutoFit/>
          </a:bodyPr>
          <a:lstStyle/>
          <a:p>
            <a:pPr>
              <a:defRPr sz="1100" b="1">
                <a:solidFill>
                  <a:srgbClr val="2563EB"/>
                </a:solidFill>
                <a:latin typeface="Calibri"/>
              </a:defRPr>
            </a:pPr>
            <a:r>
              <a:t>4. Verifier</a:t>
            </a:r>
          </a:p>
          <a:p>
            <a:pPr>
              <a:defRPr sz="950">
                <a:solidFill>
                  <a:srgbClr val="334155"/>
                </a:solidFill>
                <a:latin typeface="Calibri"/>
              </a:defRPr>
            </a:pPr>
            <a:r>
              <a:t>Strict criterion test</a:t>
            </a:r>
          </a:p>
        </p:txBody>
      </p:sp>
      <p:sp>
        <p:nvSpPr>
          <p:cNvPr id="26" name="Rounded Rectangle 25"/>
          <p:cNvSpPr/>
          <p:nvPr/>
        </p:nvSpPr>
        <p:spPr>
          <a:xfrm>
            <a:off x="9144000" y="4663440"/>
            <a:ext cx="2103120" cy="1188720"/>
          </a:xfrm>
          <a:prstGeom prst="roundRect">
            <a:avLst/>
          </a:prstGeom>
          <a:solidFill>
            <a:srgbClr val="FFFFFF"/>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253728" y="4736592"/>
            <a:ext cx="1883664" cy="1005840"/>
          </a:xfrm>
          <a:prstGeom prst="rect">
            <a:avLst/>
          </a:prstGeom>
          <a:noFill/>
        </p:spPr>
        <p:txBody>
          <a:bodyPr wrap="square" lIns="0" tIns="0" rIns="0" bIns="0">
            <a:spAutoFit/>
          </a:bodyPr>
          <a:lstStyle/>
          <a:p>
            <a:pPr>
              <a:defRPr sz="1100" b="1">
                <a:solidFill>
                  <a:srgbClr val="2563EB"/>
                </a:solidFill>
                <a:latin typeface="Calibri"/>
              </a:defRPr>
            </a:pPr>
            <a:r>
              <a:t>5. Checkpoint</a:t>
            </a:r>
          </a:p>
          <a:p>
            <a:pPr>
              <a:defRPr sz="950">
                <a:solidFill>
                  <a:srgbClr val="334155"/>
                </a:solidFill>
                <a:latin typeface="Calibri"/>
              </a:defRPr>
            </a:pPr>
            <a:r>
              <a:t>Mastery confirmed</a:t>
            </a:r>
          </a:p>
        </p:txBody>
      </p:sp>
      <p:sp>
        <p:nvSpPr>
          <p:cNvPr id="28" name="TextBox 27"/>
          <p:cNvSpPr txBox="1"/>
          <p:nvPr/>
        </p:nvSpPr>
        <p:spPr>
          <a:xfrm>
            <a:off x="2697480" y="5074920"/>
            <a:ext cx="228600" cy="365760"/>
          </a:xfrm>
          <a:prstGeom prst="rect">
            <a:avLst/>
          </a:prstGeom>
          <a:noFill/>
        </p:spPr>
        <p:txBody>
          <a:bodyPr wrap="none">
            <a:spAutoFit/>
          </a:bodyPr>
          <a:lstStyle/>
          <a:p>
            <a:pPr>
              <a:defRPr sz="1600" b="1">
                <a:solidFill>
                  <a:srgbClr val="2563EB"/>
                </a:solidFill>
              </a:defRPr>
            </a:pPr>
            <a:r>
              <a:t>-&gt;</a:t>
            </a:r>
          </a:p>
        </p:txBody>
      </p:sp>
      <p:sp>
        <p:nvSpPr>
          <p:cNvPr id="29" name="TextBox 28"/>
          <p:cNvSpPr txBox="1"/>
          <p:nvPr/>
        </p:nvSpPr>
        <p:spPr>
          <a:xfrm>
            <a:off x="4754880" y="5074920"/>
            <a:ext cx="228600" cy="365760"/>
          </a:xfrm>
          <a:prstGeom prst="rect">
            <a:avLst/>
          </a:prstGeom>
          <a:noFill/>
        </p:spPr>
        <p:txBody>
          <a:bodyPr wrap="none">
            <a:spAutoFit/>
          </a:bodyPr>
          <a:lstStyle/>
          <a:p>
            <a:pPr>
              <a:defRPr sz="1600" b="1">
                <a:solidFill>
                  <a:srgbClr val="2563EB"/>
                </a:solidFill>
              </a:defRPr>
            </a:pPr>
            <a:r>
              <a:t>-&gt;</a:t>
            </a:r>
          </a:p>
        </p:txBody>
      </p:sp>
      <p:sp>
        <p:nvSpPr>
          <p:cNvPr id="30" name="TextBox 29"/>
          <p:cNvSpPr txBox="1"/>
          <p:nvPr/>
        </p:nvSpPr>
        <p:spPr>
          <a:xfrm>
            <a:off x="6812280" y="5074920"/>
            <a:ext cx="228600" cy="365760"/>
          </a:xfrm>
          <a:prstGeom prst="rect">
            <a:avLst/>
          </a:prstGeom>
          <a:noFill/>
        </p:spPr>
        <p:txBody>
          <a:bodyPr wrap="none">
            <a:spAutoFit/>
          </a:bodyPr>
          <a:lstStyle/>
          <a:p>
            <a:pPr>
              <a:defRPr sz="1600" b="1">
                <a:solidFill>
                  <a:srgbClr val="2563EB"/>
                </a:solidFill>
              </a:defRPr>
            </a:pPr>
            <a:r>
              <a:t>-&gt;</a:t>
            </a:r>
          </a:p>
        </p:txBody>
      </p:sp>
      <p:sp>
        <p:nvSpPr>
          <p:cNvPr id="31" name="TextBox 30"/>
          <p:cNvSpPr txBox="1"/>
          <p:nvPr/>
        </p:nvSpPr>
        <p:spPr>
          <a:xfrm>
            <a:off x="8869680" y="5074920"/>
            <a:ext cx="228600" cy="365760"/>
          </a:xfrm>
          <a:prstGeom prst="rect">
            <a:avLst/>
          </a:prstGeom>
          <a:noFill/>
        </p:spPr>
        <p:txBody>
          <a:bodyPr wrap="none">
            <a:spAutoFit/>
          </a:bodyPr>
          <a:lstStyle/>
          <a:p>
            <a:pPr>
              <a:defRPr sz="1600" b="1">
                <a:solidFill>
                  <a:srgbClr val="2563EB"/>
                </a:solidFill>
              </a:defRPr>
            </a:pPr>
            <a:r>
              <a:t>-&gt;</a:t>
            </a:r>
          </a:p>
        </p:txBody>
      </p:sp>
      <p:sp>
        <p:nvSpPr>
          <p:cNvPr id="32" name="TextBox 31"/>
          <p:cNvSpPr txBox="1"/>
          <p:nvPr/>
        </p:nvSpPr>
        <p:spPr>
          <a:xfrm>
            <a:off x="731520" y="6217920"/>
            <a:ext cx="10728655" cy="274320"/>
          </a:xfrm>
          <a:prstGeom prst="rect">
            <a:avLst/>
          </a:prstGeom>
          <a:noFill/>
        </p:spPr>
        <p:txBody>
          <a:bodyPr wrap="none">
            <a:spAutoFit/>
          </a:bodyPr>
          <a:lstStyle/>
          <a:p>
            <a:pPr>
              <a:defRPr sz="950">
                <a:solidFill>
                  <a:srgbClr val="64748B"/>
                </a:solidFill>
                <a:latin typeface="Calibri"/>
              </a:defRPr>
            </a:pPr>
            <a:r>
              <a:t>Empirical Finding: Eliciting self-explanations improves long-term conceptual retention by up to 40% over direct presentation [Chi et al., 2001].</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65760"/>
            <a:ext cx="10728655" cy="274320"/>
          </a:xfrm>
          <a:prstGeom prst="rect">
            <a:avLst/>
          </a:prstGeom>
          <a:noFill/>
        </p:spPr>
        <p:txBody>
          <a:bodyPr wrap="square" lIns="0" tIns="0" rIns="0" bIns="0">
            <a:spAutoFit/>
          </a:bodyPr>
          <a:lstStyle/>
          <a:p>
            <a:pPr>
              <a:defRPr sz="1000" b="1">
                <a:solidFill>
                  <a:srgbClr val="2563EB"/>
                </a:solidFill>
                <a:latin typeface="Calibri"/>
              </a:defRPr>
            </a:pPr>
            <a:r>
              <a:t>SECTION 3 - PROJECT OBJECTIVES</a:t>
            </a:r>
            <a:r>
              <a:rPr sz="1000" b="0">
                <a:solidFill>
                  <a:srgbClr val="64748B"/>
                </a:solidFill>
                <a:latin typeface="Calibri"/>
              </a:rPr>
              <a:t>  -  DECOUPLED GOALS CONNECTED TO CENTRAL PEDAGOGICAL HUB</a:t>
            </a:r>
          </a:p>
        </p:txBody>
      </p:sp>
      <p:sp>
        <p:nvSpPr>
          <p:cNvPr id="3" name="TextBox 2"/>
          <p:cNvSpPr txBox="1"/>
          <p:nvPr/>
        </p:nvSpPr>
        <p:spPr>
          <a:xfrm>
            <a:off x="731520" y="640080"/>
            <a:ext cx="10728655" cy="594360"/>
          </a:xfrm>
          <a:prstGeom prst="rect">
            <a:avLst/>
          </a:prstGeom>
          <a:noFill/>
        </p:spPr>
        <p:txBody>
          <a:bodyPr wrap="square" lIns="0" tIns="0" rIns="0" bIns="0">
            <a:spAutoFit/>
          </a:bodyPr>
          <a:lstStyle/>
          <a:p>
            <a:pPr>
              <a:defRPr sz="2400" b="1">
                <a:solidFill>
                  <a:srgbClr val="0F172A"/>
                </a:solidFill>
                <a:latin typeface="Calibri"/>
              </a:defRPr>
            </a:pPr>
            <a:r>
              <a:t>Systemic Objectives &amp; Research Verification Scope</a:t>
            </a:r>
          </a:p>
        </p:txBody>
      </p:sp>
      <p:sp>
        <p:nvSpPr>
          <p:cNvPr id="4" name="Rounded Rectangle 3"/>
          <p:cNvSpPr/>
          <p:nvPr/>
        </p:nvSpPr>
        <p:spPr>
          <a:xfrm>
            <a:off x="4723790" y="3017520"/>
            <a:ext cx="2743200" cy="1645920"/>
          </a:xfrm>
          <a:prstGeom prst="roundRect">
            <a:avLst/>
          </a:prstGeom>
          <a:solidFill>
            <a:srgbClr val="EFF6FF"/>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06670" y="3246120"/>
            <a:ext cx="2377440" cy="1188720"/>
          </a:xfrm>
          <a:prstGeom prst="rect">
            <a:avLst/>
          </a:prstGeom>
          <a:noFill/>
        </p:spPr>
        <p:txBody>
          <a:bodyPr wrap="square" lIns="0" tIns="0" rIns="0" bIns="0">
            <a:spAutoFit/>
          </a:bodyPr>
          <a:lstStyle/>
          <a:p>
            <a:pPr algn="ctr">
              <a:defRPr sz="1600" b="1">
                <a:solidFill>
                  <a:srgbClr val="2563EB"/>
                </a:solidFill>
                <a:latin typeface="Calibri"/>
              </a:defRPr>
            </a:pPr>
            <a:r>
              <a:t>MENTOR AI</a:t>
            </a:r>
          </a:p>
          <a:p>
            <a:pPr algn="ctr">
              <a:defRPr sz="1100">
                <a:solidFill>
                  <a:srgbClr val="0F172A"/>
                </a:solidFill>
                <a:latin typeface="Calibri"/>
              </a:defRPr>
            </a:pPr>
            <a:r>
              <a:t>Central Socratic</a:t>
            </a:r>
            <a:br/>
            <a:r>
              <a:t>Governance Engine</a:t>
            </a:r>
          </a:p>
        </p:txBody>
      </p:sp>
      <p:sp>
        <p:nvSpPr>
          <p:cNvPr id="6" name="Rounded Rectangle 5"/>
          <p:cNvSpPr/>
          <p:nvPr/>
        </p:nvSpPr>
        <p:spPr>
          <a:xfrm>
            <a:off x="731520" y="1463040"/>
            <a:ext cx="3657600" cy="1645920"/>
          </a:xfrm>
          <a:prstGeom prst="roundRect">
            <a:avLst/>
          </a:prstGeom>
          <a:solidFill>
            <a:srgbClr val="F8FAFC"/>
          </a:solidFill>
          <a:ln w="12700">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627632"/>
            <a:ext cx="3291840" cy="1316736"/>
          </a:xfrm>
          <a:prstGeom prst="rect">
            <a:avLst/>
          </a:prstGeom>
          <a:noFill/>
        </p:spPr>
        <p:txBody>
          <a:bodyPr wrap="square" lIns="0" tIns="0" rIns="0" bIns="0">
            <a:spAutoFit/>
          </a:bodyPr>
          <a:lstStyle/>
          <a:p>
            <a:pPr>
              <a:spcAft>
                <a:spcPts val="600"/>
              </a:spcAft>
            </a:pPr>
            <a:r>
              <a:rPr b="1" sz="1000">
                <a:solidFill>
                  <a:srgbClr val="059669"/>
                </a:solidFill>
              </a:rPr>
              <a:t>[VERIFIED]  </a:t>
            </a:r>
            <a:r>
              <a:rPr b="1" sz="1300">
                <a:solidFill>
                  <a:srgbClr val="0F172A"/>
                </a:solidFill>
              </a:rPr>
              <a:t>Guided Scaffolding</a:t>
            </a:r>
          </a:p>
          <a:p>
            <a:pPr>
              <a:defRPr sz="1050">
                <a:solidFill>
                  <a:srgbClr val="334155"/>
                </a:solidFill>
                <a:latin typeface="Calibri"/>
              </a:defRPr>
            </a:pPr>
            <a:r>
              <a:t>Enforce 4-tier graduated hints with zero answer leakage.</a:t>
            </a:r>
          </a:p>
        </p:txBody>
      </p:sp>
      <p:sp>
        <p:nvSpPr>
          <p:cNvPr id="8" name="Rounded Rectangle 7"/>
          <p:cNvSpPr/>
          <p:nvPr/>
        </p:nvSpPr>
        <p:spPr>
          <a:xfrm>
            <a:off x="7802575" y="1463040"/>
            <a:ext cx="3657600" cy="1645920"/>
          </a:xfrm>
          <a:prstGeom prst="roundRect">
            <a:avLst/>
          </a:prstGeom>
          <a:solidFill>
            <a:srgbClr val="F8FAFC"/>
          </a:solidFill>
          <a:ln w="12700">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985455" y="1627632"/>
            <a:ext cx="3291840" cy="1316736"/>
          </a:xfrm>
          <a:prstGeom prst="rect">
            <a:avLst/>
          </a:prstGeom>
          <a:noFill/>
        </p:spPr>
        <p:txBody>
          <a:bodyPr wrap="square" lIns="0" tIns="0" rIns="0" bIns="0">
            <a:spAutoFit/>
          </a:bodyPr>
          <a:lstStyle/>
          <a:p>
            <a:pPr>
              <a:spcAft>
                <a:spcPts val="600"/>
              </a:spcAft>
            </a:pPr>
            <a:r>
              <a:rPr b="1" sz="1000">
                <a:solidFill>
                  <a:srgbClr val="059669"/>
                </a:solidFill>
              </a:rPr>
              <a:t>[VERIFIED]  </a:t>
            </a:r>
            <a:r>
              <a:rPr b="1" sz="1300">
                <a:solidFill>
                  <a:srgbClr val="0F172A"/>
                </a:solidFill>
              </a:rPr>
              <a:t>Prerequisite DAG</a:t>
            </a:r>
          </a:p>
          <a:p>
            <a:pPr>
              <a:defRPr sz="1050">
                <a:solidFill>
                  <a:srgbClr val="334155"/>
                </a:solidFill>
                <a:latin typeface="Calibri"/>
              </a:defRPr>
            </a:pPr>
            <a:r>
              <a:t>Deconstruct queries into acyclic concept dependency graphs.</a:t>
            </a:r>
          </a:p>
        </p:txBody>
      </p:sp>
      <p:sp>
        <p:nvSpPr>
          <p:cNvPr id="10" name="Rounded Rectangle 9"/>
          <p:cNvSpPr/>
          <p:nvPr/>
        </p:nvSpPr>
        <p:spPr>
          <a:xfrm>
            <a:off x="731520" y="4114800"/>
            <a:ext cx="3657600" cy="1645920"/>
          </a:xfrm>
          <a:prstGeom prst="roundRect">
            <a:avLst/>
          </a:prstGeom>
          <a:solidFill>
            <a:srgbClr val="F8FAFC"/>
          </a:solidFill>
          <a:ln w="12700">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4279392"/>
            <a:ext cx="3291840" cy="1316736"/>
          </a:xfrm>
          <a:prstGeom prst="rect">
            <a:avLst/>
          </a:prstGeom>
          <a:noFill/>
        </p:spPr>
        <p:txBody>
          <a:bodyPr wrap="square" lIns="0" tIns="0" rIns="0" bIns="0">
            <a:spAutoFit/>
          </a:bodyPr>
          <a:lstStyle/>
          <a:p>
            <a:pPr>
              <a:spcAft>
                <a:spcPts val="600"/>
              </a:spcAft>
            </a:pPr>
            <a:r>
              <a:rPr b="1" sz="1000">
                <a:solidFill>
                  <a:srgbClr val="059669"/>
                </a:solidFill>
              </a:rPr>
              <a:t>[VERIFIED]  </a:t>
            </a:r>
            <a:r>
              <a:rPr b="1" sz="1300">
                <a:solidFill>
                  <a:srgbClr val="0F172A"/>
                </a:solidFill>
              </a:rPr>
              <a:t>Strict Verification</a:t>
            </a:r>
          </a:p>
          <a:p>
            <a:pPr>
              <a:defRPr sz="1050">
                <a:solidFill>
                  <a:srgbClr val="334155"/>
                </a:solidFill>
                <a:latin typeface="Calibri"/>
              </a:defRPr>
            </a:pPr>
            <a:r>
              <a:t>Deterministic validation against explicit checkpoint criteria.</a:t>
            </a:r>
          </a:p>
        </p:txBody>
      </p:sp>
      <p:sp>
        <p:nvSpPr>
          <p:cNvPr id="12" name="Rounded Rectangle 11"/>
          <p:cNvSpPr/>
          <p:nvPr/>
        </p:nvSpPr>
        <p:spPr>
          <a:xfrm>
            <a:off x="7802575" y="4114800"/>
            <a:ext cx="3657600" cy="1645920"/>
          </a:xfrm>
          <a:prstGeom prst="roundRect">
            <a:avLst/>
          </a:prstGeom>
          <a:solidFill>
            <a:srgbClr val="F8FAFC"/>
          </a:solidFill>
          <a:ln w="12700">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985455" y="4279392"/>
            <a:ext cx="3291840" cy="1316736"/>
          </a:xfrm>
          <a:prstGeom prst="rect">
            <a:avLst/>
          </a:prstGeom>
          <a:noFill/>
        </p:spPr>
        <p:txBody>
          <a:bodyPr wrap="square" lIns="0" tIns="0" rIns="0" bIns="0">
            <a:spAutoFit/>
          </a:bodyPr>
          <a:lstStyle/>
          <a:p>
            <a:pPr>
              <a:spcAft>
                <a:spcPts val="600"/>
              </a:spcAft>
            </a:pPr>
            <a:r>
              <a:rPr b="1" sz="1000">
                <a:solidFill>
                  <a:srgbClr val="059669"/>
                </a:solidFill>
              </a:rPr>
              <a:t>[VERIFIED]  </a:t>
            </a:r>
            <a:r>
              <a:rPr b="1" sz="1300">
                <a:solidFill>
                  <a:srgbClr val="0F172A"/>
                </a:solidFill>
              </a:rPr>
              <a:t>Persistent Brain</a:t>
            </a:r>
          </a:p>
          <a:p>
            <a:pPr>
              <a:defRPr sz="1050">
                <a:solidFill>
                  <a:srgbClr val="334155"/>
                </a:solidFill>
                <a:latin typeface="Calibri"/>
              </a:defRPr>
            </a:pPr>
            <a:r>
              <a:t>Longitudinal mastery tracking via EMA (alpha=0.3) &amp; SuperMemo-2.</a:t>
            </a:r>
          </a:p>
        </p:txBody>
      </p:sp>
      <p:sp>
        <p:nvSpPr>
          <p:cNvPr id="14" name="Rounded Rectangle 13"/>
          <p:cNvSpPr/>
          <p:nvPr/>
        </p:nvSpPr>
        <p:spPr>
          <a:xfrm>
            <a:off x="4266590" y="5120640"/>
            <a:ext cx="3657600" cy="1097280"/>
          </a:xfrm>
          <a:prstGeom prst="roundRect">
            <a:avLst/>
          </a:prstGeom>
          <a:solidFill>
            <a:srgbClr val="FFFBEB"/>
          </a:solidFill>
          <a:ln w="1270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449470" y="5212080"/>
            <a:ext cx="3291840" cy="914400"/>
          </a:xfrm>
          <a:prstGeom prst="rect">
            <a:avLst/>
          </a:prstGeom>
          <a:noFill/>
        </p:spPr>
        <p:txBody>
          <a:bodyPr wrap="square" lIns="0" tIns="0" rIns="0" bIns="0">
            <a:spAutoFit/>
          </a:bodyPr>
          <a:lstStyle/>
          <a:p>
            <a:r>
              <a:rPr b="1" sz="950">
                <a:solidFill>
                  <a:srgbClr val="D97706"/>
                </a:solidFill>
              </a:rPr>
              <a:t>[PLANNED - Phase 3]  </a:t>
            </a:r>
            <a:r>
              <a:rPr b="1" sz="1100">
                <a:solidFill>
                  <a:srgbClr val="0F172A"/>
                </a:solidFill>
              </a:rPr>
              <a:t>Semantic Vector Memory (RAG)
</a:t>
            </a:r>
            <a:r>
              <a:rPr sz="950">
                <a:solidFill>
                  <a:srgbClr val="334155"/>
                </a:solidFill>
              </a:rPr>
              <a:t>Deep historical session retrieval via Qdrant collections.</a:t>
            </a:r>
          </a:p>
        </p:txBody>
      </p:sp>
      <p:sp>
        <p:nvSpPr>
          <p:cNvPr id="16" name="TextBox 15"/>
          <p:cNvSpPr txBox="1"/>
          <p:nvPr/>
        </p:nvSpPr>
        <p:spPr>
          <a:xfrm>
            <a:off x="731520" y="6309360"/>
            <a:ext cx="10728655" cy="274320"/>
          </a:xfrm>
          <a:prstGeom prst="rect">
            <a:avLst/>
          </a:prstGeom>
          <a:noFill/>
        </p:spPr>
        <p:txBody>
          <a:bodyPr wrap="none">
            <a:spAutoFit/>
          </a:bodyPr>
          <a:lstStyle/>
          <a:p>
            <a:pPr>
              <a:defRPr sz="950">
                <a:solidFill>
                  <a:srgbClr val="64748B"/>
                </a:solidFill>
                <a:latin typeface="Calibri"/>
              </a:defRPr>
            </a:pPr>
            <a:r>
              <a:t>Verification Scope: 8 capabilities fully implemented and tested (37/37 passing unit tests)  |  1 capability planned for Phase 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65760"/>
            <a:ext cx="10728655" cy="274320"/>
          </a:xfrm>
          <a:prstGeom prst="rect">
            <a:avLst/>
          </a:prstGeom>
          <a:noFill/>
        </p:spPr>
        <p:txBody>
          <a:bodyPr wrap="square" lIns="0" tIns="0" rIns="0" bIns="0">
            <a:spAutoFit/>
          </a:bodyPr>
          <a:lstStyle/>
          <a:p>
            <a:pPr>
              <a:defRPr sz="1000" b="1">
                <a:solidFill>
                  <a:srgbClr val="2563EB"/>
                </a:solidFill>
                <a:latin typeface="Calibri"/>
              </a:defRPr>
            </a:pPr>
            <a:r>
              <a:t>SECTION 4 - SYSTEM OVERVIEW</a:t>
            </a:r>
            <a:r>
              <a:rPr sz="1000" b="0">
                <a:solidFill>
                  <a:srgbClr val="64748B"/>
                </a:solidFill>
                <a:latin typeface="Calibri"/>
              </a:rPr>
              <a:t>  -  FROM STUDENT QUERY TO VERIFIED PROGRESSION AND ADAPTIVE SCAFFOLDING</a:t>
            </a:r>
          </a:p>
        </p:txBody>
      </p:sp>
      <p:sp>
        <p:nvSpPr>
          <p:cNvPr id="3" name="TextBox 2"/>
          <p:cNvSpPr txBox="1"/>
          <p:nvPr/>
        </p:nvSpPr>
        <p:spPr>
          <a:xfrm>
            <a:off x="731520" y="640080"/>
            <a:ext cx="10728655" cy="594360"/>
          </a:xfrm>
          <a:prstGeom prst="rect">
            <a:avLst/>
          </a:prstGeom>
          <a:noFill/>
        </p:spPr>
        <p:txBody>
          <a:bodyPr wrap="square" lIns="0" tIns="0" rIns="0" bIns="0">
            <a:spAutoFit/>
          </a:bodyPr>
          <a:lstStyle/>
          <a:p>
            <a:pPr>
              <a:defRPr sz="2400" b="1">
                <a:solidFill>
                  <a:srgbClr val="0F172A"/>
                </a:solidFill>
                <a:latin typeface="Calibri"/>
              </a:defRPr>
            </a:pPr>
            <a:r>
              <a:t>End-to-End Execution Flowchart &amp; Decision Topology</a:t>
            </a:r>
          </a:p>
        </p:txBody>
      </p:sp>
      <p:sp>
        <p:nvSpPr>
          <p:cNvPr id="4" name="Rounded Rectangle 3"/>
          <p:cNvSpPr/>
          <p:nvPr/>
        </p:nvSpPr>
        <p:spPr>
          <a:xfrm>
            <a:off x="731520" y="1371600"/>
            <a:ext cx="1645920" cy="118872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444752"/>
            <a:ext cx="1426464" cy="1005840"/>
          </a:xfrm>
          <a:prstGeom prst="rect">
            <a:avLst/>
          </a:prstGeom>
          <a:noFill/>
        </p:spPr>
        <p:txBody>
          <a:bodyPr wrap="square" lIns="0" tIns="0" rIns="0" bIns="0">
            <a:spAutoFit/>
          </a:bodyPr>
          <a:lstStyle/>
          <a:p>
            <a:pPr>
              <a:defRPr sz="1100" b="1">
                <a:solidFill>
                  <a:srgbClr val="0F172A"/>
                </a:solidFill>
                <a:latin typeface="Calibri"/>
              </a:defRPr>
            </a:pPr>
            <a:r>
              <a:t>1. Student</a:t>
            </a:r>
          </a:p>
          <a:p>
            <a:pPr>
              <a:defRPr sz="900">
                <a:solidFill>
                  <a:srgbClr val="334155"/>
                </a:solidFill>
                <a:latin typeface="Calibri"/>
              </a:defRPr>
            </a:pPr>
            <a:r>
              <a:t>Inputs learning goal in Chat UI</a:t>
            </a:r>
          </a:p>
        </p:txBody>
      </p:sp>
      <p:sp>
        <p:nvSpPr>
          <p:cNvPr id="6" name="Rounded Rectangle 5"/>
          <p:cNvSpPr/>
          <p:nvPr/>
        </p:nvSpPr>
        <p:spPr>
          <a:xfrm>
            <a:off x="2651760" y="1371600"/>
            <a:ext cx="2011680" cy="118872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61488" y="1444752"/>
            <a:ext cx="1792224" cy="1005840"/>
          </a:xfrm>
          <a:prstGeom prst="rect">
            <a:avLst/>
          </a:prstGeom>
          <a:noFill/>
        </p:spPr>
        <p:txBody>
          <a:bodyPr wrap="square" lIns="0" tIns="0" rIns="0" bIns="0">
            <a:spAutoFit/>
          </a:bodyPr>
          <a:lstStyle/>
          <a:p>
            <a:pPr>
              <a:defRPr sz="1100" b="1">
                <a:solidFill>
                  <a:srgbClr val="0F172A"/>
                </a:solidFill>
                <a:latin typeface="Calibri"/>
              </a:defRPr>
            </a:pPr>
            <a:r>
              <a:t>2. Backend API</a:t>
            </a:r>
          </a:p>
          <a:p>
            <a:pPr>
              <a:defRPr sz="900">
                <a:solidFill>
                  <a:srgbClr val="334155"/>
                </a:solidFill>
                <a:latin typeface="Calibri"/>
              </a:defRPr>
            </a:pPr>
            <a:r>
              <a:t>FastAPI Orchestrator initializes session</a:t>
            </a:r>
          </a:p>
        </p:txBody>
      </p:sp>
      <p:sp>
        <p:nvSpPr>
          <p:cNvPr id="8" name="Rounded Rectangle 7"/>
          <p:cNvSpPr/>
          <p:nvPr/>
        </p:nvSpPr>
        <p:spPr>
          <a:xfrm>
            <a:off x="4937760" y="1371600"/>
            <a:ext cx="2103120" cy="118872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47488" y="1444752"/>
            <a:ext cx="1883664" cy="1005840"/>
          </a:xfrm>
          <a:prstGeom prst="rect">
            <a:avLst/>
          </a:prstGeom>
          <a:noFill/>
        </p:spPr>
        <p:txBody>
          <a:bodyPr wrap="square" lIns="0" tIns="0" rIns="0" bIns="0">
            <a:spAutoFit/>
          </a:bodyPr>
          <a:lstStyle/>
          <a:p>
            <a:pPr>
              <a:defRPr sz="1100" b="1">
                <a:solidFill>
                  <a:srgbClr val="0F172A"/>
                </a:solidFill>
                <a:latin typeface="Calibri"/>
              </a:defRPr>
            </a:pPr>
            <a:r>
              <a:t>3. Planner Agent</a:t>
            </a:r>
          </a:p>
          <a:p>
            <a:pPr>
              <a:defRPr sz="900">
                <a:solidFill>
                  <a:srgbClr val="334155"/>
                </a:solidFill>
                <a:latin typeface="Calibri"/>
              </a:defRPr>
            </a:pPr>
            <a:r>
              <a:t>Generates Pydantic DAG curriculum</a:t>
            </a:r>
          </a:p>
        </p:txBody>
      </p:sp>
      <p:sp>
        <p:nvSpPr>
          <p:cNvPr id="10" name="Rounded Rectangle 9"/>
          <p:cNvSpPr/>
          <p:nvPr/>
        </p:nvSpPr>
        <p:spPr>
          <a:xfrm>
            <a:off x="7315200" y="1371600"/>
            <a:ext cx="2194560" cy="118872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424928" y="1444752"/>
            <a:ext cx="1975104" cy="1005840"/>
          </a:xfrm>
          <a:prstGeom prst="rect">
            <a:avLst/>
          </a:prstGeom>
          <a:noFill/>
        </p:spPr>
        <p:txBody>
          <a:bodyPr wrap="square" lIns="0" tIns="0" rIns="0" bIns="0">
            <a:spAutoFit/>
          </a:bodyPr>
          <a:lstStyle/>
          <a:p>
            <a:pPr>
              <a:defRPr sz="1100" b="1">
                <a:solidFill>
                  <a:srgbClr val="0F172A"/>
                </a:solidFill>
                <a:latin typeface="Calibri"/>
              </a:defRPr>
            </a:pPr>
            <a:r>
              <a:t>4. Checkpoint</a:t>
            </a:r>
          </a:p>
          <a:p>
            <a:pPr>
              <a:defRPr sz="900">
                <a:solidFill>
                  <a:srgbClr val="334155"/>
                </a:solidFill>
                <a:latin typeface="Calibri"/>
              </a:defRPr>
            </a:pPr>
            <a:r>
              <a:t>Locks future tasks; presents current prompt</a:t>
            </a:r>
          </a:p>
        </p:txBody>
      </p:sp>
      <p:sp>
        <p:nvSpPr>
          <p:cNvPr id="12" name="Rounded Rectangle 11"/>
          <p:cNvSpPr/>
          <p:nvPr/>
        </p:nvSpPr>
        <p:spPr>
          <a:xfrm>
            <a:off x="9784080" y="1371600"/>
            <a:ext cx="1645920" cy="118872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893808" y="1444752"/>
            <a:ext cx="1426464" cy="1005840"/>
          </a:xfrm>
          <a:prstGeom prst="rect">
            <a:avLst/>
          </a:prstGeom>
          <a:noFill/>
        </p:spPr>
        <p:txBody>
          <a:bodyPr wrap="square" lIns="0" tIns="0" rIns="0" bIns="0">
            <a:spAutoFit/>
          </a:bodyPr>
          <a:lstStyle/>
          <a:p>
            <a:pPr>
              <a:defRPr sz="1100" b="1">
                <a:solidFill>
                  <a:srgbClr val="0F172A"/>
                </a:solidFill>
                <a:latin typeface="Calibri"/>
              </a:defRPr>
            </a:pPr>
            <a:r>
              <a:t>5. Student Attempt</a:t>
            </a:r>
          </a:p>
          <a:p>
            <a:pPr>
              <a:defRPr sz="900">
                <a:solidFill>
                  <a:srgbClr val="334155"/>
                </a:solidFill>
                <a:latin typeface="Calibri"/>
              </a:defRPr>
            </a:pPr>
            <a:r>
              <a:t>Active derivation submitted</a:t>
            </a:r>
          </a:p>
        </p:txBody>
      </p:sp>
      <p:sp>
        <p:nvSpPr>
          <p:cNvPr id="14" name="TextBox 13"/>
          <p:cNvSpPr txBox="1"/>
          <p:nvPr/>
        </p:nvSpPr>
        <p:spPr>
          <a:xfrm>
            <a:off x="2423160" y="1783080"/>
            <a:ext cx="182880" cy="274320"/>
          </a:xfrm>
          <a:prstGeom prst="rect">
            <a:avLst/>
          </a:prstGeom>
          <a:noFill/>
        </p:spPr>
        <p:txBody>
          <a:bodyPr wrap="none">
            <a:spAutoFit/>
          </a:bodyPr>
          <a:lstStyle/>
          <a:p>
            <a:pPr>
              <a:defRPr sz="1400" b="1">
                <a:solidFill>
                  <a:srgbClr val="64748B"/>
                </a:solidFill>
              </a:defRPr>
            </a:pPr>
            <a:r>
              <a:t>-&gt;</a:t>
            </a:r>
          </a:p>
        </p:txBody>
      </p:sp>
      <p:sp>
        <p:nvSpPr>
          <p:cNvPr id="15" name="TextBox 14"/>
          <p:cNvSpPr txBox="1"/>
          <p:nvPr/>
        </p:nvSpPr>
        <p:spPr>
          <a:xfrm>
            <a:off x="4709160" y="1783080"/>
            <a:ext cx="182880" cy="274320"/>
          </a:xfrm>
          <a:prstGeom prst="rect">
            <a:avLst/>
          </a:prstGeom>
          <a:noFill/>
        </p:spPr>
        <p:txBody>
          <a:bodyPr wrap="none">
            <a:spAutoFit/>
          </a:bodyPr>
          <a:lstStyle/>
          <a:p>
            <a:pPr>
              <a:defRPr sz="1400" b="1">
                <a:solidFill>
                  <a:srgbClr val="64748B"/>
                </a:solidFill>
              </a:defRPr>
            </a:pPr>
            <a:r>
              <a:t>-&gt;</a:t>
            </a:r>
          </a:p>
        </p:txBody>
      </p:sp>
      <p:sp>
        <p:nvSpPr>
          <p:cNvPr id="16" name="TextBox 15"/>
          <p:cNvSpPr txBox="1"/>
          <p:nvPr/>
        </p:nvSpPr>
        <p:spPr>
          <a:xfrm>
            <a:off x="7086600" y="1783080"/>
            <a:ext cx="182880" cy="274320"/>
          </a:xfrm>
          <a:prstGeom prst="rect">
            <a:avLst/>
          </a:prstGeom>
          <a:noFill/>
        </p:spPr>
        <p:txBody>
          <a:bodyPr wrap="none">
            <a:spAutoFit/>
          </a:bodyPr>
          <a:lstStyle/>
          <a:p>
            <a:pPr>
              <a:defRPr sz="1400" b="1">
                <a:solidFill>
                  <a:srgbClr val="64748B"/>
                </a:solidFill>
              </a:defRPr>
            </a:pPr>
            <a:r>
              <a:t>-&gt;</a:t>
            </a:r>
          </a:p>
        </p:txBody>
      </p:sp>
      <p:sp>
        <p:nvSpPr>
          <p:cNvPr id="17" name="TextBox 16"/>
          <p:cNvSpPr txBox="1"/>
          <p:nvPr/>
        </p:nvSpPr>
        <p:spPr>
          <a:xfrm>
            <a:off x="9555480" y="1783080"/>
            <a:ext cx="182880" cy="274320"/>
          </a:xfrm>
          <a:prstGeom prst="rect">
            <a:avLst/>
          </a:prstGeom>
          <a:noFill/>
        </p:spPr>
        <p:txBody>
          <a:bodyPr wrap="none">
            <a:spAutoFit/>
          </a:bodyPr>
          <a:lstStyle/>
          <a:p>
            <a:pPr>
              <a:defRPr sz="1400" b="1">
                <a:solidFill>
                  <a:srgbClr val="64748B"/>
                </a:solidFill>
              </a:defRPr>
            </a:pPr>
            <a:r>
              <a:t>-&gt;</a:t>
            </a:r>
          </a:p>
        </p:txBody>
      </p:sp>
      <p:sp>
        <p:nvSpPr>
          <p:cNvPr id="18" name="TextBox 17"/>
          <p:cNvSpPr txBox="1"/>
          <p:nvPr/>
        </p:nvSpPr>
        <p:spPr>
          <a:xfrm>
            <a:off x="10332720" y="2606040"/>
            <a:ext cx="548640" cy="365760"/>
          </a:xfrm>
          <a:prstGeom prst="rect">
            <a:avLst/>
          </a:prstGeom>
          <a:noFill/>
        </p:spPr>
        <p:txBody>
          <a:bodyPr wrap="none">
            <a:spAutoFit/>
          </a:bodyPr>
          <a:lstStyle/>
          <a:p>
            <a:pPr>
              <a:defRPr sz="1800" b="1">
                <a:solidFill>
                  <a:srgbClr val="2563EB"/>
                </a:solidFill>
              </a:defRPr>
            </a:pPr>
            <a:r>
              <a:t>v</a:t>
            </a:r>
          </a:p>
        </p:txBody>
      </p:sp>
      <p:sp>
        <p:nvSpPr>
          <p:cNvPr id="19" name="Rounded Rectangle 18"/>
          <p:cNvSpPr/>
          <p:nvPr/>
        </p:nvSpPr>
        <p:spPr>
          <a:xfrm>
            <a:off x="7772400" y="3017520"/>
            <a:ext cx="3657600" cy="1005840"/>
          </a:xfrm>
          <a:prstGeom prst="roundRect">
            <a:avLst/>
          </a:prstGeom>
          <a:solidFill>
            <a:srgbClr val="EFF6FF"/>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909560" y="3090672"/>
            <a:ext cx="3383280" cy="822960"/>
          </a:xfrm>
          <a:prstGeom prst="rect">
            <a:avLst/>
          </a:prstGeom>
          <a:noFill/>
        </p:spPr>
        <p:txBody>
          <a:bodyPr wrap="square" lIns="0" tIns="0" rIns="0" bIns="0">
            <a:spAutoFit/>
          </a:bodyPr>
          <a:lstStyle/>
          <a:p>
            <a:pPr>
              <a:defRPr sz="1200" b="1">
                <a:solidFill>
                  <a:srgbClr val="2563EB"/>
                </a:solidFill>
                <a:latin typeface="Calibri"/>
              </a:defRPr>
            </a:pPr>
            <a:r>
              <a:t>6. VERIFIER AGENT (Decision Gate)</a:t>
            </a:r>
          </a:p>
          <a:p>
            <a:pPr>
              <a:defRPr sz="950">
                <a:solidFill>
                  <a:srgbClr val="0F172A"/>
                </a:solidFill>
                <a:latin typeface="Calibri"/>
              </a:defRPr>
            </a:pPr>
            <a:r>
              <a:t>Evaluates response against checkpoint criteria;</a:t>
            </a:r>
            <a:br/>
            <a:r>
              <a:t>Emits VerificationResult (Status, Misconceptions, Score)</a:t>
            </a:r>
          </a:p>
        </p:txBody>
      </p:sp>
      <p:sp>
        <p:nvSpPr>
          <p:cNvPr id="21" name="Rounded Rectangle 20"/>
          <p:cNvSpPr/>
          <p:nvPr/>
        </p:nvSpPr>
        <p:spPr>
          <a:xfrm>
            <a:off x="731520" y="4297680"/>
            <a:ext cx="3474720" cy="1463040"/>
          </a:xfrm>
          <a:prstGeom prst="roundRect">
            <a:avLst/>
          </a:prstGeom>
          <a:solidFill>
            <a:srgbClr val="ECFDF5"/>
          </a:solidFill>
          <a:ln w="12700">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96112" y="4389120"/>
            <a:ext cx="3145536" cy="1280160"/>
          </a:xfrm>
          <a:prstGeom prst="rect">
            <a:avLst/>
          </a:prstGeom>
          <a:noFill/>
        </p:spPr>
        <p:txBody>
          <a:bodyPr wrap="square" lIns="0" tIns="0" rIns="0" bIns="0">
            <a:spAutoFit/>
          </a:bodyPr>
          <a:lstStyle/>
          <a:p>
            <a:pPr>
              <a:spcAft>
                <a:spcPts val="600"/>
              </a:spcAft>
              <a:defRPr sz="1200" b="1">
                <a:solidFill>
                  <a:srgbClr val="059669"/>
                </a:solidFill>
                <a:latin typeface="Calibri"/>
              </a:defRPr>
            </a:pPr>
            <a:r>
              <a:t>Branch A: CORRECT</a:t>
            </a:r>
          </a:p>
          <a:p>
            <a:pPr>
              <a:defRPr sz="1000">
                <a:solidFill>
                  <a:srgbClr val="334155"/>
                </a:solidFill>
                <a:latin typeface="Calibri"/>
              </a:defRPr>
            </a:pPr>
            <a:r>
              <a:t>Reset hint level to 1  -&gt;  Update Student Brain EMA  -&gt;  Unlock next checkpoint.</a:t>
            </a:r>
          </a:p>
        </p:txBody>
      </p:sp>
      <p:sp>
        <p:nvSpPr>
          <p:cNvPr id="23" name="Rounded Rectangle 22"/>
          <p:cNvSpPr/>
          <p:nvPr/>
        </p:nvSpPr>
        <p:spPr>
          <a:xfrm>
            <a:off x="4297680" y="4297680"/>
            <a:ext cx="3474720" cy="1463040"/>
          </a:xfrm>
          <a:prstGeom prst="roundRect">
            <a:avLst/>
          </a:prstGeom>
          <a:solidFill>
            <a:srgbClr val="FFFBEB"/>
          </a:solidFill>
          <a:ln w="1270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462272" y="4389120"/>
            <a:ext cx="3145536" cy="1280160"/>
          </a:xfrm>
          <a:prstGeom prst="rect">
            <a:avLst/>
          </a:prstGeom>
          <a:noFill/>
        </p:spPr>
        <p:txBody>
          <a:bodyPr wrap="square" lIns="0" tIns="0" rIns="0" bIns="0">
            <a:spAutoFit/>
          </a:bodyPr>
          <a:lstStyle/>
          <a:p>
            <a:pPr>
              <a:spcAft>
                <a:spcPts val="600"/>
              </a:spcAft>
              <a:defRPr sz="1200" b="1">
                <a:solidFill>
                  <a:srgbClr val="D97706"/>
                </a:solidFill>
                <a:latin typeface="Calibri"/>
              </a:defRPr>
            </a:pPr>
            <a:r>
              <a:t>Branch B: OFF_TOPIC</a:t>
            </a:r>
          </a:p>
          <a:p>
            <a:pPr>
              <a:defRPr sz="1000">
                <a:solidFill>
                  <a:srgbClr val="334155"/>
                </a:solidFill>
                <a:latin typeface="Calibri"/>
              </a:defRPr>
            </a:pPr>
            <a:r>
              <a:t>Return gentle refocusing prompt  -&gt;  Do not escalate hints or penalize mastery.</a:t>
            </a:r>
          </a:p>
        </p:txBody>
      </p:sp>
      <p:sp>
        <p:nvSpPr>
          <p:cNvPr id="25" name="Rounded Rectangle 24"/>
          <p:cNvSpPr/>
          <p:nvPr/>
        </p:nvSpPr>
        <p:spPr>
          <a:xfrm>
            <a:off x="7863840" y="4297680"/>
            <a:ext cx="3474720" cy="1463040"/>
          </a:xfrm>
          <a:prstGeom prst="roundRect">
            <a:avLst/>
          </a:prstGeom>
          <a:solidFill>
            <a:srgbClr val="FEF2F2"/>
          </a:solidFill>
          <a:ln w="12700">
            <a:solidFill>
              <a:srgbClr val="DC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028432" y="4389120"/>
            <a:ext cx="3145536" cy="1280160"/>
          </a:xfrm>
          <a:prstGeom prst="rect">
            <a:avLst/>
          </a:prstGeom>
          <a:noFill/>
        </p:spPr>
        <p:txBody>
          <a:bodyPr wrap="square" lIns="0" tIns="0" rIns="0" bIns="0">
            <a:spAutoFit/>
          </a:bodyPr>
          <a:lstStyle/>
          <a:p>
            <a:pPr>
              <a:spcAft>
                <a:spcPts val="600"/>
              </a:spcAft>
              <a:defRPr sz="1200" b="1">
                <a:solidFill>
                  <a:srgbClr val="DC2626"/>
                </a:solidFill>
                <a:latin typeface="Calibri"/>
              </a:defRPr>
            </a:pPr>
            <a:r>
              <a:t>Branch C: INCORRECT</a:t>
            </a:r>
          </a:p>
          <a:p>
            <a:pPr>
              <a:defRPr sz="1000">
                <a:solidFill>
                  <a:srgbClr val="334155"/>
                </a:solidFill>
                <a:latin typeface="Calibri"/>
              </a:defRPr>
            </a:pPr>
            <a:r>
              <a:t>Diagnose misconception  -&gt;  Escalate hint level (1-4)  -&gt;  Generate guided hint.</a:t>
            </a:r>
          </a:p>
        </p:txBody>
      </p:sp>
      <p:sp>
        <p:nvSpPr>
          <p:cNvPr id="27" name="TextBox 26"/>
          <p:cNvSpPr txBox="1"/>
          <p:nvPr/>
        </p:nvSpPr>
        <p:spPr>
          <a:xfrm>
            <a:off x="731520" y="5989320"/>
            <a:ext cx="10728655" cy="365760"/>
          </a:xfrm>
          <a:prstGeom prst="rect">
            <a:avLst/>
          </a:prstGeom>
          <a:noFill/>
        </p:spPr>
        <p:txBody>
          <a:bodyPr wrap="none">
            <a:spAutoFit/>
          </a:bodyPr>
          <a:lstStyle/>
          <a:p>
            <a:pPr>
              <a:defRPr sz="1000" b="1">
                <a:solidFill>
                  <a:srgbClr val="2563EB"/>
                </a:solidFill>
                <a:latin typeface="Calibri"/>
              </a:defRPr>
            </a:pPr>
            <a:r>
              <a:t>[Loop] Socratic Feedback Loop: Incorrect attempts route through the Hint Agent and cycle back to Step 5 until the student independently derives the correct solution.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65760"/>
            <a:ext cx="10728655" cy="274320"/>
          </a:xfrm>
          <a:prstGeom prst="rect">
            <a:avLst/>
          </a:prstGeom>
          <a:noFill/>
        </p:spPr>
        <p:txBody>
          <a:bodyPr wrap="square" lIns="0" tIns="0" rIns="0" bIns="0">
            <a:spAutoFit/>
          </a:bodyPr>
          <a:lstStyle/>
          <a:p>
            <a:pPr>
              <a:defRPr sz="1000" b="1">
                <a:solidFill>
                  <a:srgbClr val="2563EB"/>
                </a:solidFill>
                <a:latin typeface="Calibri"/>
              </a:defRPr>
            </a:pPr>
            <a:r>
              <a:t>SECTION 5 - SYSTEM ARCHITECTURE</a:t>
            </a:r>
            <a:r>
              <a:rPr sz="1000" b="0">
                <a:solidFill>
                  <a:srgbClr val="64748B"/>
                </a:solidFill>
                <a:latin typeface="Calibri"/>
              </a:rPr>
              <a:t>  -  CLEAN SEPARATION ACROSS INTERFACE, APPLICATION, ORCHESTRATION, MODEL &amp; DATA TIERS</a:t>
            </a:r>
          </a:p>
        </p:txBody>
      </p:sp>
      <p:sp>
        <p:nvSpPr>
          <p:cNvPr id="3" name="TextBox 2"/>
          <p:cNvSpPr txBox="1"/>
          <p:nvPr/>
        </p:nvSpPr>
        <p:spPr>
          <a:xfrm>
            <a:off x="731520" y="640080"/>
            <a:ext cx="10728655" cy="594360"/>
          </a:xfrm>
          <a:prstGeom prst="rect">
            <a:avLst/>
          </a:prstGeom>
          <a:noFill/>
        </p:spPr>
        <p:txBody>
          <a:bodyPr wrap="square" lIns="0" tIns="0" rIns="0" bIns="0">
            <a:spAutoFit/>
          </a:bodyPr>
          <a:lstStyle/>
          <a:p>
            <a:pPr>
              <a:defRPr sz="2400" b="1">
                <a:solidFill>
                  <a:srgbClr val="0F172A"/>
                </a:solidFill>
                <a:latin typeface="Calibri"/>
              </a:defRPr>
            </a:pPr>
            <a:r>
              <a:t>Inside Mentor AI: 5-Tier Layered Software Topology</a:t>
            </a:r>
          </a:p>
        </p:txBody>
      </p:sp>
      <p:sp>
        <p:nvSpPr>
          <p:cNvPr id="4" name="Rounded Rectangle 3"/>
          <p:cNvSpPr/>
          <p:nvPr/>
        </p:nvSpPr>
        <p:spPr>
          <a:xfrm>
            <a:off x="731520" y="1371600"/>
            <a:ext cx="10728655" cy="86868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1444752"/>
            <a:ext cx="10424160" cy="228600"/>
          </a:xfrm>
          <a:prstGeom prst="rect">
            <a:avLst/>
          </a:prstGeom>
          <a:noFill/>
        </p:spPr>
        <p:txBody>
          <a:bodyPr wrap="none" lIns="0" tIns="0" rIns="0" bIns="0">
            <a:spAutoFit/>
          </a:bodyPr>
          <a:lstStyle/>
          <a:p>
            <a:pPr>
              <a:defRPr sz="950" b="1">
                <a:solidFill>
                  <a:srgbClr val="0F172A"/>
                </a:solidFill>
                <a:latin typeface="Calibri"/>
              </a:defRPr>
            </a:pPr>
            <a:r>
              <a:t>TIER 1: USER INTERFACE &amp; WORKSPACE</a:t>
            </a:r>
          </a:p>
        </p:txBody>
      </p:sp>
      <p:sp>
        <p:nvSpPr>
          <p:cNvPr id="6" name="Rectangle 5"/>
          <p:cNvSpPr/>
          <p:nvPr/>
        </p:nvSpPr>
        <p:spPr>
          <a:xfrm>
            <a:off x="868680" y="1664208"/>
            <a:ext cx="3383280" cy="502920"/>
          </a:xfrm>
          <a:prstGeom prst="rect">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1719072"/>
            <a:ext cx="3200400" cy="393192"/>
          </a:xfrm>
          <a:prstGeom prst="rect">
            <a:avLst/>
          </a:prstGeom>
          <a:noFill/>
        </p:spPr>
        <p:txBody>
          <a:bodyPr wrap="square" lIns="0" tIns="0" rIns="0" bIns="0">
            <a:spAutoFit/>
          </a:bodyPr>
          <a:lstStyle/>
          <a:p>
            <a:pPr>
              <a:defRPr sz="1000" b="1">
                <a:solidFill>
                  <a:srgbClr val="0F172A"/>
                </a:solidFill>
                <a:latin typeface="Calibri"/>
              </a:defRPr>
            </a:pPr>
            <a:r>
              <a:t>Next.js 15+ Frontend Workspace</a:t>
            </a:r>
          </a:p>
          <a:p>
            <a:pPr>
              <a:defRPr sz="850">
                <a:solidFill>
                  <a:srgbClr val="64748B"/>
                </a:solidFill>
                <a:latin typeface="Calibri"/>
              </a:defRPr>
            </a:pPr>
            <a:r>
              <a:t>React 19, TypeScript, Tailwind CSS, Lucide</a:t>
            </a:r>
          </a:p>
        </p:txBody>
      </p:sp>
      <p:sp>
        <p:nvSpPr>
          <p:cNvPr id="8" name="Rectangle 7"/>
          <p:cNvSpPr/>
          <p:nvPr/>
        </p:nvSpPr>
        <p:spPr>
          <a:xfrm>
            <a:off x="4389120" y="1664208"/>
            <a:ext cx="3383280" cy="502920"/>
          </a:xfrm>
          <a:prstGeom prst="rect">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480560" y="1719072"/>
            <a:ext cx="3200400" cy="393192"/>
          </a:xfrm>
          <a:prstGeom prst="rect">
            <a:avLst/>
          </a:prstGeom>
          <a:noFill/>
        </p:spPr>
        <p:txBody>
          <a:bodyPr wrap="square" lIns="0" tIns="0" rIns="0" bIns="0">
            <a:spAutoFit/>
          </a:bodyPr>
          <a:lstStyle/>
          <a:p>
            <a:pPr>
              <a:defRPr sz="1000" b="1">
                <a:solidFill>
                  <a:srgbClr val="0F172A"/>
                </a:solidFill>
                <a:latin typeface="Calibri"/>
              </a:defRPr>
            </a:pPr>
            <a:r>
              <a:t>Socratic Chat &amp; Checkpoint Card</a:t>
            </a:r>
          </a:p>
          <a:p>
            <a:pPr>
              <a:defRPr sz="850">
                <a:solidFill>
                  <a:srgbClr val="64748B"/>
                </a:solidFill>
                <a:latin typeface="Calibri"/>
              </a:defRPr>
            </a:pPr>
            <a:r>
              <a:t>Live interaction, interactive task prompt</a:t>
            </a:r>
          </a:p>
        </p:txBody>
      </p:sp>
      <p:sp>
        <p:nvSpPr>
          <p:cNvPr id="10" name="Rectangle 9"/>
          <p:cNvSpPr/>
          <p:nvPr/>
        </p:nvSpPr>
        <p:spPr>
          <a:xfrm>
            <a:off x="7909560" y="1664208"/>
            <a:ext cx="3383280" cy="502920"/>
          </a:xfrm>
          <a:prstGeom prst="rect">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001000" y="1719072"/>
            <a:ext cx="3200400" cy="393192"/>
          </a:xfrm>
          <a:prstGeom prst="rect">
            <a:avLst/>
          </a:prstGeom>
          <a:noFill/>
        </p:spPr>
        <p:txBody>
          <a:bodyPr wrap="square" lIns="0" tIns="0" rIns="0" bIns="0">
            <a:spAutoFit/>
          </a:bodyPr>
          <a:lstStyle/>
          <a:p>
            <a:pPr>
              <a:defRPr sz="1000" b="1">
                <a:solidFill>
                  <a:srgbClr val="0F172A"/>
                </a:solidFill>
                <a:latin typeface="Calibri"/>
              </a:defRPr>
            </a:pPr>
            <a:r>
              <a:t>Learning Journey Visualizer</a:t>
            </a:r>
          </a:p>
          <a:p>
            <a:pPr>
              <a:defRPr sz="850">
                <a:solidFill>
                  <a:srgbClr val="64748B"/>
                </a:solidFill>
                <a:latin typeface="Calibri"/>
              </a:defRPr>
            </a:pPr>
            <a:r>
              <a:t>Renders prerequisite DAG dependencies</a:t>
            </a:r>
          </a:p>
        </p:txBody>
      </p:sp>
      <p:sp>
        <p:nvSpPr>
          <p:cNvPr id="12" name="Rounded Rectangle 11"/>
          <p:cNvSpPr/>
          <p:nvPr/>
        </p:nvSpPr>
        <p:spPr>
          <a:xfrm>
            <a:off x="731520" y="2377440"/>
            <a:ext cx="10728655" cy="86868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68680" y="2450592"/>
            <a:ext cx="10424160" cy="228600"/>
          </a:xfrm>
          <a:prstGeom prst="rect">
            <a:avLst/>
          </a:prstGeom>
          <a:noFill/>
        </p:spPr>
        <p:txBody>
          <a:bodyPr wrap="none" lIns="0" tIns="0" rIns="0" bIns="0">
            <a:spAutoFit/>
          </a:bodyPr>
          <a:lstStyle/>
          <a:p>
            <a:pPr>
              <a:defRPr sz="950" b="1">
                <a:solidFill>
                  <a:srgbClr val="0F172A"/>
                </a:solidFill>
                <a:latin typeface="Calibri"/>
              </a:defRPr>
            </a:pPr>
            <a:r>
              <a:t>TIER 2: APPLICATION BACKEND &amp; SESSION MANAGEMENT</a:t>
            </a:r>
          </a:p>
        </p:txBody>
      </p:sp>
      <p:sp>
        <p:nvSpPr>
          <p:cNvPr id="14" name="Rectangle 13"/>
          <p:cNvSpPr/>
          <p:nvPr/>
        </p:nvSpPr>
        <p:spPr>
          <a:xfrm>
            <a:off x="868680" y="2670048"/>
            <a:ext cx="3383280" cy="502920"/>
          </a:xfrm>
          <a:prstGeom prst="rect">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60120" y="2724912"/>
            <a:ext cx="3200400" cy="393192"/>
          </a:xfrm>
          <a:prstGeom prst="rect">
            <a:avLst/>
          </a:prstGeom>
          <a:noFill/>
        </p:spPr>
        <p:txBody>
          <a:bodyPr wrap="square" lIns="0" tIns="0" rIns="0" bIns="0">
            <a:spAutoFit/>
          </a:bodyPr>
          <a:lstStyle/>
          <a:p>
            <a:pPr>
              <a:defRPr sz="1000" b="1">
                <a:solidFill>
                  <a:srgbClr val="0F172A"/>
                </a:solidFill>
                <a:latin typeface="Calibri"/>
              </a:defRPr>
            </a:pPr>
            <a:r>
              <a:t>FastAPI Backend Server (Port 8000)</a:t>
            </a:r>
          </a:p>
          <a:p>
            <a:pPr>
              <a:defRPr sz="850">
                <a:solidFill>
                  <a:srgbClr val="64748B"/>
                </a:solidFill>
                <a:latin typeface="Calibri"/>
              </a:defRPr>
            </a:pPr>
            <a:r>
              <a:t>Asynchronous request lifecycle &amp; route dispatch</a:t>
            </a:r>
          </a:p>
        </p:txBody>
      </p:sp>
      <p:sp>
        <p:nvSpPr>
          <p:cNvPr id="16" name="Rectangle 15"/>
          <p:cNvSpPr/>
          <p:nvPr/>
        </p:nvSpPr>
        <p:spPr>
          <a:xfrm>
            <a:off x="4389120" y="2670048"/>
            <a:ext cx="3383280" cy="502920"/>
          </a:xfrm>
          <a:prstGeom prst="rect">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480560" y="2724912"/>
            <a:ext cx="3200400" cy="393192"/>
          </a:xfrm>
          <a:prstGeom prst="rect">
            <a:avLst/>
          </a:prstGeom>
          <a:noFill/>
        </p:spPr>
        <p:txBody>
          <a:bodyPr wrap="square" lIns="0" tIns="0" rIns="0" bIns="0">
            <a:spAutoFit/>
          </a:bodyPr>
          <a:lstStyle/>
          <a:p>
            <a:pPr>
              <a:defRPr sz="1000" b="1">
                <a:solidFill>
                  <a:srgbClr val="0F172A"/>
                </a:solidFill>
                <a:latin typeface="Calibri"/>
              </a:defRPr>
            </a:pPr>
            <a:r>
              <a:t>Session State Manager</a:t>
            </a:r>
          </a:p>
          <a:p>
            <a:pPr>
              <a:defRPr sz="850">
                <a:solidFill>
                  <a:srgbClr val="64748B"/>
                </a:solidFill>
                <a:latin typeface="Calibri"/>
              </a:defRPr>
            </a:pPr>
            <a:r>
              <a:t>Tracks active user, session status, current checkpoint</a:t>
            </a:r>
          </a:p>
        </p:txBody>
      </p:sp>
      <p:sp>
        <p:nvSpPr>
          <p:cNvPr id="18" name="Rectangle 17"/>
          <p:cNvSpPr/>
          <p:nvPr/>
        </p:nvSpPr>
        <p:spPr>
          <a:xfrm>
            <a:off x="7909560" y="2670048"/>
            <a:ext cx="3383280" cy="502920"/>
          </a:xfrm>
          <a:prstGeom prst="rect">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001000" y="2724912"/>
            <a:ext cx="3200400" cy="393192"/>
          </a:xfrm>
          <a:prstGeom prst="rect">
            <a:avLst/>
          </a:prstGeom>
          <a:noFill/>
        </p:spPr>
        <p:txBody>
          <a:bodyPr wrap="square" lIns="0" tIns="0" rIns="0" bIns="0">
            <a:spAutoFit/>
          </a:bodyPr>
          <a:lstStyle/>
          <a:p>
            <a:pPr>
              <a:defRPr sz="1000" b="1">
                <a:solidFill>
                  <a:srgbClr val="0F172A"/>
                </a:solidFill>
                <a:latin typeface="Calibri"/>
              </a:defRPr>
            </a:pPr>
            <a:r>
              <a:t>CORS &amp; Environment Middleware</a:t>
            </a:r>
          </a:p>
          <a:p>
            <a:pPr>
              <a:defRPr sz="850">
                <a:solidFill>
                  <a:srgbClr val="64748B"/>
                </a:solidFill>
                <a:latin typeface="Calibri"/>
              </a:defRPr>
            </a:pPr>
            <a:r>
              <a:t>Multi-client origins &amp; authentication token validation</a:t>
            </a:r>
          </a:p>
        </p:txBody>
      </p:sp>
      <p:sp>
        <p:nvSpPr>
          <p:cNvPr id="20" name="Rounded Rectangle 19"/>
          <p:cNvSpPr/>
          <p:nvPr/>
        </p:nvSpPr>
        <p:spPr>
          <a:xfrm>
            <a:off x="731520" y="3383280"/>
            <a:ext cx="10728655" cy="960120"/>
          </a:xfrm>
          <a:prstGeom prst="roundRect">
            <a:avLst/>
          </a:prstGeom>
          <a:solidFill>
            <a:srgbClr val="EFF6FF"/>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68680" y="3456432"/>
            <a:ext cx="10424160" cy="228600"/>
          </a:xfrm>
          <a:prstGeom prst="rect">
            <a:avLst/>
          </a:prstGeom>
          <a:noFill/>
        </p:spPr>
        <p:txBody>
          <a:bodyPr wrap="none" lIns="0" tIns="0" rIns="0" bIns="0">
            <a:spAutoFit/>
          </a:bodyPr>
          <a:lstStyle/>
          <a:p>
            <a:pPr>
              <a:defRPr sz="950" b="1">
                <a:solidFill>
                  <a:srgbClr val="2563EB"/>
                </a:solidFill>
                <a:latin typeface="Calibri"/>
              </a:defRPr>
            </a:pPr>
            <a:r>
              <a:t>TIER 3: AI ORCHESTRATION &amp; MULTI-AGENT GOVERNANCE</a:t>
            </a:r>
          </a:p>
        </p:txBody>
      </p:sp>
      <p:sp>
        <p:nvSpPr>
          <p:cNvPr id="22" name="Rectangle 21"/>
          <p:cNvSpPr/>
          <p:nvPr/>
        </p:nvSpPr>
        <p:spPr>
          <a:xfrm>
            <a:off x="868680" y="3675888"/>
            <a:ext cx="2503170" cy="594360"/>
          </a:xfrm>
          <a:prstGeom prst="rect">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60120" y="3730752"/>
            <a:ext cx="2320290" cy="484632"/>
          </a:xfrm>
          <a:prstGeom prst="rect">
            <a:avLst/>
          </a:prstGeom>
          <a:noFill/>
        </p:spPr>
        <p:txBody>
          <a:bodyPr wrap="square" lIns="0" tIns="0" rIns="0" bIns="0">
            <a:spAutoFit/>
          </a:bodyPr>
          <a:lstStyle/>
          <a:p>
            <a:pPr>
              <a:defRPr sz="1000" b="1">
                <a:solidFill>
                  <a:srgbClr val="0F172A"/>
                </a:solidFill>
                <a:latin typeface="Calibri"/>
              </a:defRPr>
            </a:pPr>
            <a:r>
              <a:t>Central Orchestrator (State Machine)</a:t>
            </a:r>
          </a:p>
          <a:p>
            <a:pPr>
              <a:defRPr sz="850">
                <a:solidFill>
                  <a:srgbClr val="64748B"/>
                </a:solidFill>
                <a:latin typeface="Calibri"/>
              </a:defRPr>
            </a:pPr>
            <a:r>
              <a:t>Deterministic gates &amp; transition control</a:t>
            </a:r>
          </a:p>
        </p:txBody>
      </p:sp>
      <p:sp>
        <p:nvSpPr>
          <p:cNvPr id="24" name="Rectangle 23"/>
          <p:cNvSpPr/>
          <p:nvPr/>
        </p:nvSpPr>
        <p:spPr>
          <a:xfrm>
            <a:off x="3509010" y="3675888"/>
            <a:ext cx="2503170" cy="594360"/>
          </a:xfrm>
          <a:prstGeom prst="rect">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600450" y="3730752"/>
            <a:ext cx="2320290" cy="484632"/>
          </a:xfrm>
          <a:prstGeom prst="rect">
            <a:avLst/>
          </a:prstGeom>
          <a:noFill/>
        </p:spPr>
        <p:txBody>
          <a:bodyPr wrap="square" lIns="0" tIns="0" rIns="0" bIns="0">
            <a:spAutoFit/>
          </a:bodyPr>
          <a:lstStyle/>
          <a:p>
            <a:pPr>
              <a:defRPr sz="1000" b="1">
                <a:solidFill>
                  <a:srgbClr val="0F172A"/>
                </a:solidFill>
                <a:latin typeface="Calibri"/>
              </a:defRPr>
            </a:pPr>
            <a:r>
              <a:t>Planner Agent (Pydantic DAG)</a:t>
            </a:r>
          </a:p>
          <a:p>
            <a:pPr>
              <a:defRPr sz="850">
                <a:solidFill>
                  <a:srgbClr val="64748B"/>
                </a:solidFill>
                <a:latin typeface="Calibri"/>
              </a:defRPr>
            </a:pPr>
            <a:r>
              <a:t>Goal decomposition &amp; cycle-free validation</a:t>
            </a:r>
          </a:p>
        </p:txBody>
      </p:sp>
      <p:sp>
        <p:nvSpPr>
          <p:cNvPr id="26" name="Rectangle 25"/>
          <p:cNvSpPr/>
          <p:nvPr/>
        </p:nvSpPr>
        <p:spPr>
          <a:xfrm>
            <a:off x="6149340" y="3675888"/>
            <a:ext cx="2503170" cy="594360"/>
          </a:xfrm>
          <a:prstGeom prst="rect">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240780" y="3730752"/>
            <a:ext cx="2320290" cy="484632"/>
          </a:xfrm>
          <a:prstGeom prst="rect">
            <a:avLst/>
          </a:prstGeom>
          <a:noFill/>
        </p:spPr>
        <p:txBody>
          <a:bodyPr wrap="square" lIns="0" tIns="0" rIns="0" bIns="0">
            <a:spAutoFit/>
          </a:bodyPr>
          <a:lstStyle/>
          <a:p>
            <a:pPr>
              <a:defRPr sz="1000" b="1">
                <a:solidFill>
                  <a:srgbClr val="0F172A"/>
                </a:solidFill>
                <a:latin typeface="Calibri"/>
              </a:defRPr>
            </a:pPr>
            <a:r>
              <a:t>Verifier Agent (Strict Evaluator)</a:t>
            </a:r>
          </a:p>
          <a:p>
            <a:pPr>
              <a:defRPr sz="850">
                <a:solidFill>
                  <a:srgbClr val="64748B"/>
                </a:solidFill>
                <a:latin typeface="Calibri"/>
              </a:defRPr>
            </a:pPr>
            <a:r>
              <a:t>Multi-criteria validation without leakage</a:t>
            </a:r>
          </a:p>
        </p:txBody>
      </p:sp>
      <p:sp>
        <p:nvSpPr>
          <p:cNvPr id="28" name="Rectangle 27"/>
          <p:cNvSpPr/>
          <p:nvPr/>
        </p:nvSpPr>
        <p:spPr>
          <a:xfrm>
            <a:off x="8789670" y="3675888"/>
            <a:ext cx="2503170" cy="594360"/>
          </a:xfrm>
          <a:prstGeom prst="rect">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881110" y="3730752"/>
            <a:ext cx="2320290" cy="484632"/>
          </a:xfrm>
          <a:prstGeom prst="rect">
            <a:avLst/>
          </a:prstGeom>
          <a:noFill/>
        </p:spPr>
        <p:txBody>
          <a:bodyPr wrap="square" lIns="0" tIns="0" rIns="0" bIns="0">
            <a:spAutoFit/>
          </a:bodyPr>
          <a:lstStyle/>
          <a:p>
            <a:pPr>
              <a:defRPr sz="1000" b="1">
                <a:solidFill>
                  <a:srgbClr val="0F172A"/>
                </a:solidFill>
                <a:latin typeface="Calibri"/>
              </a:defRPr>
            </a:pPr>
            <a:r>
              <a:t>Hint Agent (4-Level Scaffolder)</a:t>
            </a:r>
          </a:p>
          <a:p>
            <a:pPr>
              <a:defRPr sz="850">
                <a:solidFill>
                  <a:srgbClr val="64748B"/>
                </a:solidFill>
                <a:latin typeface="Calibri"/>
              </a:defRPr>
            </a:pPr>
            <a:r>
              <a:t>Adaptive hint scaling (L1 Nudge to L4 Step)</a:t>
            </a:r>
          </a:p>
        </p:txBody>
      </p:sp>
      <p:sp>
        <p:nvSpPr>
          <p:cNvPr id="30" name="Rounded Rectangle 29"/>
          <p:cNvSpPr/>
          <p:nvPr/>
        </p:nvSpPr>
        <p:spPr>
          <a:xfrm>
            <a:off x="731520" y="4480560"/>
            <a:ext cx="10728655" cy="86868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68680" y="4553712"/>
            <a:ext cx="10424160" cy="228600"/>
          </a:xfrm>
          <a:prstGeom prst="rect">
            <a:avLst/>
          </a:prstGeom>
          <a:noFill/>
        </p:spPr>
        <p:txBody>
          <a:bodyPr wrap="none" lIns="0" tIns="0" rIns="0" bIns="0">
            <a:spAutoFit/>
          </a:bodyPr>
          <a:lstStyle/>
          <a:p>
            <a:pPr>
              <a:defRPr sz="950" b="1">
                <a:solidFill>
                  <a:srgbClr val="0F172A"/>
                </a:solidFill>
                <a:latin typeface="Calibri"/>
              </a:defRPr>
            </a:pPr>
            <a:r>
              <a:t>TIER 4: MODEL SERVING &amp; INFERENCE RUNTIME</a:t>
            </a:r>
          </a:p>
        </p:txBody>
      </p:sp>
      <p:sp>
        <p:nvSpPr>
          <p:cNvPr id="32" name="Rectangle 31"/>
          <p:cNvSpPr/>
          <p:nvPr/>
        </p:nvSpPr>
        <p:spPr>
          <a:xfrm>
            <a:off x="868680" y="4773168"/>
            <a:ext cx="3383280" cy="502920"/>
          </a:xfrm>
          <a:prstGeom prst="rect">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960120" y="4828032"/>
            <a:ext cx="3200400" cy="393192"/>
          </a:xfrm>
          <a:prstGeom prst="rect">
            <a:avLst/>
          </a:prstGeom>
          <a:noFill/>
        </p:spPr>
        <p:txBody>
          <a:bodyPr wrap="square" lIns="0" tIns="0" rIns="0" bIns="0">
            <a:spAutoFit/>
          </a:bodyPr>
          <a:lstStyle/>
          <a:p>
            <a:pPr>
              <a:defRPr sz="1000" b="1">
                <a:solidFill>
                  <a:srgbClr val="0F172A"/>
                </a:solidFill>
                <a:latin typeface="Calibri"/>
              </a:defRPr>
            </a:pPr>
            <a:r>
              <a:t>RunPod Serverless Worker</a:t>
            </a:r>
          </a:p>
          <a:p>
            <a:pPr>
              <a:defRPr sz="850">
                <a:solidFill>
                  <a:srgbClr val="64748B"/>
                </a:solidFill>
                <a:latin typeface="Calibri"/>
              </a:defRPr>
            </a:pPr>
            <a:r>
              <a:t>serverless_worker.py async handler</a:t>
            </a:r>
          </a:p>
        </p:txBody>
      </p:sp>
      <p:sp>
        <p:nvSpPr>
          <p:cNvPr id="34" name="Rectangle 33"/>
          <p:cNvSpPr/>
          <p:nvPr/>
        </p:nvSpPr>
        <p:spPr>
          <a:xfrm>
            <a:off x="4389120" y="4773168"/>
            <a:ext cx="3383280" cy="502920"/>
          </a:xfrm>
          <a:prstGeom prst="rect">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480560" y="4828032"/>
            <a:ext cx="3200400" cy="393192"/>
          </a:xfrm>
          <a:prstGeom prst="rect">
            <a:avLst/>
          </a:prstGeom>
          <a:noFill/>
        </p:spPr>
        <p:txBody>
          <a:bodyPr wrap="square" lIns="0" tIns="0" rIns="0" bIns="0">
            <a:spAutoFit/>
          </a:bodyPr>
          <a:lstStyle/>
          <a:p>
            <a:pPr>
              <a:defRPr sz="1000" b="1">
                <a:solidFill>
                  <a:srgbClr val="0F172A"/>
                </a:solidFill>
                <a:latin typeface="Calibri"/>
              </a:defRPr>
            </a:pPr>
            <a:r>
              <a:t>vLLM High-Throughput Engine</a:t>
            </a:r>
          </a:p>
          <a:p>
            <a:pPr>
              <a:defRPr sz="850">
                <a:solidFill>
                  <a:srgbClr val="64748B"/>
                </a:solidFill>
                <a:latin typeface="Calibri"/>
              </a:defRPr>
            </a:pPr>
            <a:r>
              <a:t>Serves Qwen3-8B with dynamic LoRA resolution</a:t>
            </a:r>
          </a:p>
        </p:txBody>
      </p:sp>
      <p:sp>
        <p:nvSpPr>
          <p:cNvPr id="36" name="Rectangle 35"/>
          <p:cNvSpPr/>
          <p:nvPr/>
        </p:nvSpPr>
        <p:spPr>
          <a:xfrm>
            <a:off x="7909560" y="4773168"/>
            <a:ext cx="3383280" cy="502920"/>
          </a:xfrm>
          <a:prstGeom prst="rect">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001000" y="4828032"/>
            <a:ext cx="3200400" cy="393192"/>
          </a:xfrm>
          <a:prstGeom prst="rect">
            <a:avLst/>
          </a:prstGeom>
          <a:noFill/>
        </p:spPr>
        <p:txBody>
          <a:bodyPr wrap="square" lIns="0" tIns="0" rIns="0" bIns="0">
            <a:spAutoFit/>
          </a:bodyPr>
          <a:lstStyle/>
          <a:p>
            <a:pPr>
              <a:defRPr sz="1000" b="1">
                <a:solidFill>
                  <a:srgbClr val="0F172A"/>
                </a:solidFill>
                <a:latin typeface="Calibri"/>
              </a:defRPr>
            </a:pPr>
            <a:r>
              <a:t>Local Ollama Runtime</a:t>
            </a:r>
          </a:p>
          <a:p>
            <a:pPr>
              <a:defRPr sz="850">
                <a:solidFill>
                  <a:srgbClr val="64748B"/>
                </a:solidFill>
                <a:latin typeface="Calibri"/>
              </a:defRPr>
            </a:pPr>
            <a:r>
              <a:t>Development fallback (qwen3.5-aggressive)</a:t>
            </a:r>
          </a:p>
        </p:txBody>
      </p:sp>
      <p:sp>
        <p:nvSpPr>
          <p:cNvPr id="38" name="Rounded Rectangle 37"/>
          <p:cNvSpPr/>
          <p:nvPr/>
        </p:nvSpPr>
        <p:spPr>
          <a:xfrm>
            <a:off x="731520" y="5486400"/>
            <a:ext cx="10728655" cy="86868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868680" y="5559552"/>
            <a:ext cx="10424160" cy="228600"/>
          </a:xfrm>
          <a:prstGeom prst="rect">
            <a:avLst/>
          </a:prstGeom>
          <a:noFill/>
        </p:spPr>
        <p:txBody>
          <a:bodyPr wrap="none" lIns="0" tIns="0" rIns="0" bIns="0">
            <a:spAutoFit/>
          </a:bodyPr>
          <a:lstStyle/>
          <a:p>
            <a:pPr>
              <a:defRPr sz="950" b="1">
                <a:solidFill>
                  <a:srgbClr val="0F172A"/>
                </a:solidFill>
                <a:latin typeface="Calibri"/>
              </a:defRPr>
            </a:pPr>
            <a:r>
              <a:t>TIER 5: DATA PERSISTENCE &amp; LEARNER MEMORY</a:t>
            </a:r>
          </a:p>
        </p:txBody>
      </p:sp>
      <p:sp>
        <p:nvSpPr>
          <p:cNvPr id="40" name="Rectangle 39"/>
          <p:cNvSpPr/>
          <p:nvPr/>
        </p:nvSpPr>
        <p:spPr>
          <a:xfrm>
            <a:off x="868680" y="5779008"/>
            <a:ext cx="3383280" cy="502920"/>
          </a:xfrm>
          <a:prstGeom prst="rect">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960120" y="5833872"/>
            <a:ext cx="3200400" cy="393192"/>
          </a:xfrm>
          <a:prstGeom prst="rect">
            <a:avLst/>
          </a:prstGeom>
          <a:noFill/>
        </p:spPr>
        <p:txBody>
          <a:bodyPr wrap="square" lIns="0" tIns="0" rIns="0" bIns="0">
            <a:spAutoFit/>
          </a:bodyPr>
          <a:lstStyle/>
          <a:p>
            <a:pPr>
              <a:defRPr sz="1000" b="1">
                <a:solidFill>
                  <a:srgbClr val="0F172A"/>
                </a:solidFill>
                <a:latin typeface="Calibri"/>
              </a:defRPr>
            </a:pPr>
            <a:r>
              <a:t>PostgreSQL 15 / SQLite DB</a:t>
            </a:r>
          </a:p>
          <a:p>
            <a:pPr>
              <a:defRPr sz="850">
                <a:solidFill>
                  <a:srgbClr val="64748B"/>
                </a:solidFill>
                <a:latin typeface="Calibri"/>
              </a:defRPr>
            </a:pPr>
            <a:r>
              <a:t>maieutic.db: sessions, attempts, SM-2 schedules</a:t>
            </a:r>
          </a:p>
        </p:txBody>
      </p:sp>
      <p:sp>
        <p:nvSpPr>
          <p:cNvPr id="42" name="Rectangle 41"/>
          <p:cNvSpPr/>
          <p:nvPr/>
        </p:nvSpPr>
        <p:spPr>
          <a:xfrm>
            <a:off x="4389120" y="5779008"/>
            <a:ext cx="3383280" cy="502920"/>
          </a:xfrm>
          <a:prstGeom prst="rect">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4480560" y="5833872"/>
            <a:ext cx="3200400" cy="393192"/>
          </a:xfrm>
          <a:prstGeom prst="rect">
            <a:avLst/>
          </a:prstGeom>
          <a:noFill/>
        </p:spPr>
        <p:txBody>
          <a:bodyPr wrap="square" lIns="0" tIns="0" rIns="0" bIns="0">
            <a:spAutoFit/>
          </a:bodyPr>
          <a:lstStyle/>
          <a:p>
            <a:pPr>
              <a:defRPr sz="1000" b="1">
                <a:solidFill>
                  <a:srgbClr val="0F172A"/>
                </a:solidFill>
                <a:latin typeface="Calibri"/>
              </a:defRPr>
            </a:pPr>
            <a:r>
              <a:t>Student Brain Service</a:t>
            </a:r>
          </a:p>
          <a:p>
            <a:pPr>
              <a:defRPr sz="850">
                <a:solidFill>
                  <a:srgbClr val="64748B"/>
                </a:solidFill>
                <a:latin typeface="Calibri"/>
              </a:defRPr>
            </a:pPr>
            <a:r>
              <a:t>Exponential Moving Average (EMA, alpha=0.3) mastery</a:t>
            </a:r>
          </a:p>
        </p:txBody>
      </p:sp>
      <p:sp>
        <p:nvSpPr>
          <p:cNvPr id="44" name="Rectangle 43"/>
          <p:cNvSpPr/>
          <p:nvPr/>
        </p:nvSpPr>
        <p:spPr>
          <a:xfrm>
            <a:off x="7909560" y="5779008"/>
            <a:ext cx="3383280" cy="502920"/>
          </a:xfrm>
          <a:prstGeom prst="rect">
            <a:avLst/>
          </a:prstGeom>
          <a:solidFill>
            <a:srgbClr val="FFFFFF"/>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8001000" y="5833872"/>
            <a:ext cx="3200400" cy="393192"/>
          </a:xfrm>
          <a:prstGeom prst="rect">
            <a:avLst/>
          </a:prstGeom>
          <a:noFill/>
        </p:spPr>
        <p:txBody>
          <a:bodyPr wrap="square" lIns="0" tIns="0" rIns="0" bIns="0">
            <a:spAutoFit/>
          </a:bodyPr>
          <a:lstStyle/>
          <a:p>
            <a:pPr>
              <a:defRPr sz="1000" b="1">
                <a:solidFill>
                  <a:srgbClr val="0F172A"/>
                </a:solidFill>
                <a:latin typeface="Calibri"/>
              </a:defRPr>
            </a:pPr>
            <a:r>
              <a:t>Qdrant Vector Store (Port 6333)</a:t>
            </a:r>
          </a:p>
          <a:p>
            <a:pPr>
              <a:defRPr sz="850">
                <a:solidFill>
                  <a:srgbClr val="64748B"/>
                </a:solidFill>
                <a:latin typeface="Calibri"/>
              </a:defRPr>
            </a:pPr>
            <a:r>
              <a:t>student_brain_memory collection (384-dim)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65760"/>
            <a:ext cx="10728655" cy="274320"/>
          </a:xfrm>
          <a:prstGeom prst="rect">
            <a:avLst/>
          </a:prstGeom>
          <a:noFill/>
        </p:spPr>
        <p:txBody>
          <a:bodyPr wrap="square" lIns="0" tIns="0" rIns="0" bIns="0">
            <a:spAutoFit/>
          </a:bodyPr>
          <a:lstStyle/>
          <a:p>
            <a:pPr>
              <a:defRPr sz="1000" b="1">
                <a:solidFill>
                  <a:srgbClr val="2563EB"/>
                </a:solidFill>
                <a:latin typeface="Calibri"/>
              </a:defRPr>
            </a:pPr>
            <a:r>
              <a:t>SECTION 6 - THE SOCRATIC TUTORING LOOP</a:t>
            </a:r>
            <a:r>
              <a:rPr sz="1000" b="0">
                <a:solidFill>
                  <a:srgbClr val="64748B"/>
                </a:solidFill>
                <a:latin typeface="Calibri"/>
              </a:rPr>
              <a:t>  -  GATED DECISION POINT PREVENTING PREMATURE ADVANCEMENT AND ANSWER LEAKAGE</a:t>
            </a:r>
          </a:p>
        </p:txBody>
      </p:sp>
      <p:sp>
        <p:nvSpPr>
          <p:cNvPr id="3" name="TextBox 2"/>
          <p:cNvSpPr txBox="1"/>
          <p:nvPr/>
        </p:nvSpPr>
        <p:spPr>
          <a:xfrm>
            <a:off x="731520" y="640080"/>
            <a:ext cx="10728655" cy="594360"/>
          </a:xfrm>
          <a:prstGeom prst="rect">
            <a:avLst/>
          </a:prstGeom>
          <a:noFill/>
        </p:spPr>
        <p:txBody>
          <a:bodyPr wrap="square" lIns="0" tIns="0" rIns="0" bIns="0">
            <a:spAutoFit/>
          </a:bodyPr>
          <a:lstStyle/>
          <a:p>
            <a:pPr>
              <a:defRPr sz="2400" b="1">
                <a:solidFill>
                  <a:srgbClr val="0F172A"/>
                </a:solidFill>
                <a:latin typeface="Calibri"/>
              </a:defRPr>
            </a:pPr>
            <a:r>
              <a:t>Dynamic Verification &amp; Adaptive Scaffolding Loop</a:t>
            </a:r>
          </a:p>
        </p:txBody>
      </p:sp>
      <p:sp>
        <p:nvSpPr>
          <p:cNvPr id="4" name="Rounded Rectangle 3"/>
          <p:cNvSpPr/>
          <p:nvPr/>
        </p:nvSpPr>
        <p:spPr>
          <a:xfrm>
            <a:off x="731520" y="1371600"/>
            <a:ext cx="2499055" cy="118872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1463040"/>
            <a:ext cx="2224735" cy="1005840"/>
          </a:xfrm>
          <a:prstGeom prst="rect">
            <a:avLst/>
          </a:prstGeom>
          <a:noFill/>
        </p:spPr>
        <p:txBody>
          <a:bodyPr wrap="square" lIns="0" tIns="0" rIns="0" bIns="0">
            <a:spAutoFit/>
          </a:bodyPr>
          <a:lstStyle/>
          <a:p>
            <a:pPr>
              <a:defRPr sz="1150" b="1">
                <a:solidFill>
                  <a:srgbClr val="0F172A"/>
                </a:solidFill>
                <a:latin typeface="Calibri"/>
              </a:defRPr>
            </a:pPr>
            <a:r>
              <a:t>Stage A: Checkpoint</a:t>
            </a:r>
          </a:p>
          <a:p>
            <a:pPr>
              <a:defRPr sz="950">
                <a:solidFill>
                  <a:srgbClr val="334155"/>
                </a:solidFill>
                <a:latin typeface="Calibri"/>
              </a:defRPr>
            </a:pPr>
            <a:r>
              <a:t>Present concept &amp; targeted question</a:t>
            </a:r>
          </a:p>
        </p:txBody>
      </p:sp>
      <p:sp>
        <p:nvSpPr>
          <p:cNvPr id="6" name="Rounded Rectangle 5"/>
          <p:cNvSpPr/>
          <p:nvPr/>
        </p:nvSpPr>
        <p:spPr>
          <a:xfrm>
            <a:off x="3474720" y="1371600"/>
            <a:ext cx="2499055" cy="118872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11880" y="1463040"/>
            <a:ext cx="2224735" cy="1005840"/>
          </a:xfrm>
          <a:prstGeom prst="rect">
            <a:avLst/>
          </a:prstGeom>
          <a:noFill/>
        </p:spPr>
        <p:txBody>
          <a:bodyPr wrap="square" lIns="0" tIns="0" rIns="0" bIns="0">
            <a:spAutoFit/>
          </a:bodyPr>
          <a:lstStyle/>
          <a:p>
            <a:pPr>
              <a:defRPr sz="1150" b="1">
                <a:solidFill>
                  <a:srgbClr val="0F172A"/>
                </a:solidFill>
                <a:latin typeface="Calibri"/>
              </a:defRPr>
            </a:pPr>
            <a:r>
              <a:t>Stage B: Derivation</a:t>
            </a:r>
          </a:p>
          <a:p>
            <a:pPr>
              <a:defRPr sz="950">
                <a:solidFill>
                  <a:srgbClr val="334155"/>
                </a:solidFill>
                <a:latin typeface="Calibri"/>
              </a:defRPr>
            </a:pPr>
            <a:r>
              <a:t>Student submits active work / reasoning</a:t>
            </a:r>
          </a:p>
        </p:txBody>
      </p:sp>
      <p:sp>
        <p:nvSpPr>
          <p:cNvPr id="8" name="Rounded Rectangle 7"/>
          <p:cNvSpPr/>
          <p:nvPr/>
        </p:nvSpPr>
        <p:spPr>
          <a:xfrm>
            <a:off x="6217920" y="1371600"/>
            <a:ext cx="2499055" cy="1188720"/>
          </a:xfrm>
          <a:prstGeom prst="roundRect">
            <a:avLst/>
          </a:prstGeom>
          <a:solidFill>
            <a:srgbClr val="EFF6FF"/>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355080" y="1463040"/>
            <a:ext cx="2224735" cy="1005840"/>
          </a:xfrm>
          <a:prstGeom prst="rect">
            <a:avLst/>
          </a:prstGeom>
          <a:noFill/>
        </p:spPr>
        <p:txBody>
          <a:bodyPr wrap="square" lIns="0" tIns="0" rIns="0" bIns="0">
            <a:spAutoFit/>
          </a:bodyPr>
          <a:lstStyle/>
          <a:p>
            <a:pPr>
              <a:defRPr sz="1150" b="1">
                <a:solidFill>
                  <a:srgbClr val="2563EB"/>
                </a:solidFill>
                <a:latin typeface="Calibri"/>
              </a:defRPr>
            </a:pPr>
            <a:r>
              <a:t>Stage C: Verifier Gate</a:t>
            </a:r>
          </a:p>
          <a:p>
            <a:pPr>
              <a:defRPr sz="950">
                <a:solidFill>
                  <a:srgbClr val="334155"/>
                </a:solidFill>
                <a:latin typeface="Calibri"/>
              </a:defRPr>
            </a:pPr>
            <a:r>
              <a:t>Analytical validation against criteria</a:t>
            </a:r>
          </a:p>
        </p:txBody>
      </p:sp>
      <p:sp>
        <p:nvSpPr>
          <p:cNvPr id="10" name="Rounded Rectangle 9"/>
          <p:cNvSpPr/>
          <p:nvPr/>
        </p:nvSpPr>
        <p:spPr>
          <a:xfrm>
            <a:off x="8961120" y="1371600"/>
            <a:ext cx="2499055" cy="1188720"/>
          </a:xfrm>
          <a:prstGeom prst="roundRect">
            <a:avLst/>
          </a:prstGeom>
          <a:solidFill>
            <a:srgbClr val="F5F3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098280" y="1463040"/>
            <a:ext cx="2224735" cy="1005840"/>
          </a:xfrm>
          <a:prstGeom prst="rect">
            <a:avLst/>
          </a:prstGeom>
          <a:noFill/>
        </p:spPr>
        <p:txBody>
          <a:bodyPr wrap="square" lIns="0" tIns="0" rIns="0" bIns="0">
            <a:spAutoFit/>
          </a:bodyPr>
          <a:lstStyle/>
          <a:p>
            <a:pPr>
              <a:defRPr sz="1150" b="1">
                <a:solidFill>
                  <a:srgbClr val="7C3AED"/>
                </a:solidFill>
                <a:latin typeface="Calibri"/>
              </a:defRPr>
            </a:pPr>
            <a:r>
              <a:t>Stage D: Scaffolding</a:t>
            </a:r>
          </a:p>
          <a:p>
            <a:pPr>
              <a:defRPr sz="950">
                <a:solidFill>
                  <a:srgbClr val="334155"/>
                </a:solidFill>
                <a:latin typeface="Calibri"/>
              </a:defRPr>
            </a:pPr>
            <a:r>
              <a:t>4-tier graduated hint generated</a:t>
            </a:r>
          </a:p>
        </p:txBody>
      </p:sp>
      <p:sp>
        <p:nvSpPr>
          <p:cNvPr id="12" name="TextBox 11"/>
          <p:cNvSpPr txBox="1"/>
          <p:nvPr/>
        </p:nvSpPr>
        <p:spPr>
          <a:xfrm>
            <a:off x="3246120" y="1783080"/>
            <a:ext cx="182880" cy="274320"/>
          </a:xfrm>
          <a:prstGeom prst="rect">
            <a:avLst/>
          </a:prstGeom>
          <a:noFill/>
        </p:spPr>
        <p:txBody>
          <a:bodyPr wrap="none">
            <a:spAutoFit/>
          </a:bodyPr>
          <a:lstStyle/>
          <a:p>
            <a:pPr>
              <a:defRPr sz="1600" b="1">
                <a:solidFill>
                  <a:srgbClr val="64748B"/>
                </a:solidFill>
              </a:defRPr>
            </a:pPr>
            <a:r>
              <a:t>-&gt;</a:t>
            </a:r>
          </a:p>
        </p:txBody>
      </p:sp>
      <p:sp>
        <p:nvSpPr>
          <p:cNvPr id="13" name="TextBox 12"/>
          <p:cNvSpPr txBox="1"/>
          <p:nvPr/>
        </p:nvSpPr>
        <p:spPr>
          <a:xfrm>
            <a:off x="5989320" y="1783080"/>
            <a:ext cx="182880" cy="274320"/>
          </a:xfrm>
          <a:prstGeom prst="rect">
            <a:avLst/>
          </a:prstGeom>
          <a:noFill/>
        </p:spPr>
        <p:txBody>
          <a:bodyPr wrap="none">
            <a:spAutoFit/>
          </a:bodyPr>
          <a:lstStyle/>
          <a:p>
            <a:pPr>
              <a:defRPr sz="1600" b="1">
                <a:solidFill>
                  <a:srgbClr val="64748B"/>
                </a:solidFill>
              </a:defRPr>
            </a:pPr>
            <a:r>
              <a:t>-&gt;</a:t>
            </a:r>
          </a:p>
        </p:txBody>
      </p:sp>
      <p:sp>
        <p:nvSpPr>
          <p:cNvPr id="14" name="TextBox 13"/>
          <p:cNvSpPr txBox="1"/>
          <p:nvPr/>
        </p:nvSpPr>
        <p:spPr>
          <a:xfrm>
            <a:off x="8732520" y="1783080"/>
            <a:ext cx="182880" cy="274320"/>
          </a:xfrm>
          <a:prstGeom prst="rect">
            <a:avLst/>
          </a:prstGeom>
          <a:noFill/>
        </p:spPr>
        <p:txBody>
          <a:bodyPr wrap="none">
            <a:spAutoFit/>
          </a:bodyPr>
          <a:lstStyle/>
          <a:p>
            <a:pPr>
              <a:defRPr sz="1600" b="1">
                <a:solidFill>
                  <a:srgbClr val="DC2626"/>
                </a:solidFill>
              </a:defRPr>
            </a:pPr>
            <a:r>
              <a:t>-&gt;</a:t>
            </a:r>
          </a:p>
        </p:txBody>
      </p:sp>
      <p:sp>
        <p:nvSpPr>
          <p:cNvPr id="15" name="Rounded Rectangle 14"/>
          <p:cNvSpPr/>
          <p:nvPr/>
        </p:nvSpPr>
        <p:spPr>
          <a:xfrm>
            <a:off x="731520" y="2834640"/>
            <a:ext cx="3413455" cy="2377440"/>
          </a:xfrm>
          <a:prstGeom prst="roundRect">
            <a:avLst/>
          </a:prstGeom>
          <a:solidFill>
            <a:srgbClr val="ECFDF5"/>
          </a:solidFill>
          <a:ln w="12700">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96112" y="2944368"/>
            <a:ext cx="3084271" cy="2194560"/>
          </a:xfrm>
          <a:prstGeom prst="rect">
            <a:avLst/>
          </a:prstGeom>
          <a:noFill/>
        </p:spPr>
        <p:txBody>
          <a:bodyPr wrap="square" lIns="0" tIns="0" rIns="0" bIns="0">
            <a:spAutoFit/>
          </a:bodyPr>
          <a:lstStyle/>
          <a:p>
            <a:pPr>
              <a:spcAft>
                <a:spcPts val="800"/>
              </a:spcAft>
              <a:defRPr sz="1150" b="1">
                <a:solidFill>
                  <a:srgbClr val="059669"/>
                </a:solidFill>
                <a:latin typeface="Calibri"/>
              </a:defRPr>
            </a:pPr>
            <a:r>
              <a:t>VERDICT: CORRECT (100% Met)</a:t>
            </a:r>
          </a:p>
          <a:p>
            <a:pPr>
              <a:spcAft>
                <a:spcPts val="300"/>
              </a:spcAft>
              <a:defRPr sz="1000">
                <a:solidFill>
                  <a:srgbClr val="334155"/>
                </a:solidFill>
                <a:latin typeface="Calibri"/>
              </a:defRPr>
            </a:pPr>
            <a:r>
              <a:t>* All criteria satisfied with evidence.</a:t>
            </a:r>
          </a:p>
          <a:p>
            <a:pPr>
              <a:spcAft>
                <a:spcPts val="300"/>
              </a:spcAft>
              <a:defRPr sz="1000">
                <a:solidFill>
                  <a:srgbClr val="334155"/>
                </a:solidFill>
                <a:latin typeface="Calibri"/>
              </a:defRPr>
            </a:pPr>
            <a:r>
              <a:t>* Hint level resets to Level 1.</a:t>
            </a:r>
          </a:p>
          <a:p>
            <a:pPr>
              <a:spcAft>
                <a:spcPts val="300"/>
              </a:spcAft>
              <a:defRPr sz="1000">
                <a:solidFill>
                  <a:srgbClr val="334155"/>
                </a:solidFill>
                <a:latin typeface="Calibri"/>
              </a:defRPr>
            </a:pPr>
            <a:r>
              <a:t>* Student Brain updates EMA mastery.</a:t>
            </a:r>
          </a:p>
          <a:p>
            <a:pPr>
              <a:spcAft>
                <a:spcPts val="300"/>
              </a:spcAft>
              <a:defRPr sz="1000">
                <a:solidFill>
                  <a:srgbClr val="334155"/>
                </a:solidFill>
                <a:latin typeface="Calibri"/>
              </a:defRPr>
            </a:pPr>
            <a:r>
              <a:t>* Next sequential checkpoint unlocked.</a:t>
            </a:r>
          </a:p>
        </p:txBody>
      </p:sp>
      <p:sp>
        <p:nvSpPr>
          <p:cNvPr id="17" name="Rounded Rectangle 16"/>
          <p:cNvSpPr/>
          <p:nvPr/>
        </p:nvSpPr>
        <p:spPr>
          <a:xfrm>
            <a:off x="4389120" y="2834640"/>
            <a:ext cx="3413455" cy="2377440"/>
          </a:xfrm>
          <a:prstGeom prst="roundRect">
            <a:avLst/>
          </a:prstGeom>
          <a:solidFill>
            <a:srgbClr val="FFFBEB"/>
          </a:solidFill>
          <a:ln w="1270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53712" y="2944368"/>
            <a:ext cx="3084271" cy="2194560"/>
          </a:xfrm>
          <a:prstGeom prst="rect">
            <a:avLst/>
          </a:prstGeom>
          <a:noFill/>
        </p:spPr>
        <p:txBody>
          <a:bodyPr wrap="square" lIns="0" tIns="0" rIns="0" bIns="0">
            <a:spAutoFit/>
          </a:bodyPr>
          <a:lstStyle/>
          <a:p>
            <a:pPr>
              <a:spcAft>
                <a:spcPts val="800"/>
              </a:spcAft>
              <a:defRPr sz="1150" b="1">
                <a:solidFill>
                  <a:srgbClr val="D97706"/>
                </a:solidFill>
                <a:latin typeface="Calibri"/>
              </a:defRPr>
            </a:pPr>
            <a:r>
              <a:t>VERDICT: PARTIALLY CORRECT</a:t>
            </a:r>
          </a:p>
          <a:p>
            <a:pPr>
              <a:spcAft>
                <a:spcPts val="300"/>
              </a:spcAft>
              <a:defRPr sz="1000">
                <a:solidFill>
                  <a:srgbClr val="334155"/>
                </a:solidFill>
                <a:latin typeface="Calibri"/>
              </a:defRPr>
            </a:pPr>
            <a:r>
              <a:t>* Core concept understood; step incomplete.</a:t>
            </a:r>
          </a:p>
          <a:p>
            <a:pPr>
              <a:spcAft>
                <a:spcPts val="300"/>
              </a:spcAft>
              <a:defRPr sz="1000">
                <a:solidFill>
                  <a:srgbClr val="334155"/>
                </a:solidFill>
                <a:latin typeface="Calibri"/>
              </a:defRPr>
            </a:pPr>
            <a:r>
              <a:t>* Pinpoints specific unaddressed criterion.</a:t>
            </a:r>
          </a:p>
          <a:p>
            <a:pPr>
              <a:spcAft>
                <a:spcPts val="300"/>
              </a:spcAft>
              <a:defRPr sz="1000">
                <a:solidFill>
                  <a:srgbClr val="334155"/>
                </a:solidFill>
                <a:latin typeface="Calibri"/>
              </a:defRPr>
            </a:pPr>
            <a:r>
              <a:t>* Emits targeted conceptual hint.</a:t>
            </a:r>
          </a:p>
          <a:p>
            <a:pPr>
              <a:spcAft>
                <a:spcPts val="300"/>
              </a:spcAft>
              <a:defRPr sz="1000">
                <a:solidFill>
                  <a:srgbClr val="334155"/>
                </a:solidFill>
                <a:latin typeface="Calibri"/>
              </a:defRPr>
            </a:pPr>
            <a:r>
              <a:t>* Checkpoint remains locked.</a:t>
            </a:r>
          </a:p>
        </p:txBody>
      </p:sp>
      <p:sp>
        <p:nvSpPr>
          <p:cNvPr id="19" name="Rounded Rectangle 18"/>
          <p:cNvSpPr/>
          <p:nvPr/>
        </p:nvSpPr>
        <p:spPr>
          <a:xfrm>
            <a:off x="8046720" y="2834640"/>
            <a:ext cx="3413455" cy="2377440"/>
          </a:xfrm>
          <a:prstGeom prst="roundRect">
            <a:avLst/>
          </a:prstGeom>
          <a:solidFill>
            <a:srgbClr val="FEF2F2"/>
          </a:solidFill>
          <a:ln w="12700">
            <a:solidFill>
              <a:srgbClr val="DC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11312" y="2944368"/>
            <a:ext cx="3084271" cy="2194560"/>
          </a:xfrm>
          <a:prstGeom prst="rect">
            <a:avLst/>
          </a:prstGeom>
          <a:noFill/>
        </p:spPr>
        <p:txBody>
          <a:bodyPr wrap="square" lIns="0" tIns="0" rIns="0" bIns="0">
            <a:spAutoFit/>
          </a:bodyPr>
          <a:lstStyle/>
          <a:p>
            <a:pPr>
              <a:spcAft>
                <a:spcPts val="800"/>
              </a:spcAft>
              <a:defRPr sz="1150" b="1">
                <a:solidFill>
                  <a:srgbClr val="DC2626"/>
                </a:solidFill>
                <a:latin typeface="Calibri"/>
              </a:defRPr>
            </a:pPr>
            <a:r>
              <a:t>VERDICT: INCORRECT / MISCONCEPTION</a:t>
            </a:r>
          </a:p>
          <a:p>
            <a:pPr>
              <a:spcAft>
                <a:spcPts val="300"/>
              </a:spcAft>
              <a:defRPr sz="1000">
                <a:solidFill>
                  <a:srgbClr val="334155"/>
                </a:solidFill>
                <a:latin typeface="Calibri"/>
              </a:defRPr>
            </a:pPr>
            <a:r>
              <a:t>* Logical error or flawed reasoning detected.</a:t>
            </a:r>
          </a:p>
          <a:p>
            <a:pPr>
              <a:spcAft>
                <a:spcPts val="300"/>
              </a:spcAft>
              <a:defRPr sz="1000">
                <a:solidFill>
                  <a:srgbClr val="334155"/>
                </a:solidFill>
                <a:latin typeface="Calibri"/>
              </a:defRPr>
            </a:pPr>
            <a:r>
              <a:t>* Misconception tagged in student state.</a:t>
            </a:r>
          </a:p>
          <a:p>
            <a:pPr>
              <a:spcAft>
                <a:spcPts val="300"/>
              </a:spcAft>
              <a:defRPr sz="1000">
                <a:solidFill>
                  <a:srgbClr val="334155"/>
                </a:solidFill>
                <a:latin typeface="Calibri"/>
              </a:defRPr>
            </a:pPr>
            <a:r>
              <a:t>* Escalates hint level (L1 Nudge -&gt; L4 Step).</a:t>
            </a:r>
          </a:p>
          <a:p>
            <a:pPr>
              <a:spcAft>
                <a:spcPts val="300"/>
              </a:spcAft>
              <a:defRPr sz="1000">
                <a:solidFill>
                  <a:srgbClr val="334155"/>
                </a:solidFill>
                <a:latin typeface="Calibri"/>
              </a:defRPr>
            </a:pPr>
            <a:r>
              <a:t>* Zero answer leakage strictly enforced.</a:t>
            </a:r>
          </a:p>
        </p:txBody>
      </p:sp>
      <p:sp>
        <p:nvSpPr>
          <p:cNvPr id="21" name="Rounded Rectangle 20"/>
          <p:cNvSpPr/>
          <p:nvPr/>
        </p:nvSpPr>
        <p:spPr>
          <a:xfrm>
            <a:off x="731520" y="5394960"/>
            <a:ext cx="10728655" cy="731520"/>
          </a:xfrm>
          <a:prstGeom prst="roundRect">
            <a:avLst/>
          </a:prstGeom>
          <a:solidFill>
            <a:srgbClr val="F8FAFC"/>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14400" y="5468112"/>
            <a:ext cx="10362895" cy="594360"/>
          </a:xfrm>
          <a:prstGeom prst="rect">
            <a:avLst/>
          </a:prstGeom>
          <a:noFill/>
        </p:spPr>
        <p:txBody>
          <a:bodyPr wrap="square" lIns="0" tIns="0" rIns="0" bIns="0">
            <a:spAutoFit/>
          </a:bodyPr>
          <a:lstStyle/>
          <a:p>
            <a:pPr>
              <a:defRPr sz="1050" b="1">
                <a:solidFill>
                  <a:srgbClr val="2563EB"/>
                </a:solidFill>
                <a:latin typeface="Calibri"/>
              </a:defRPr>
            </a:pPr>
            <a:r>
              <a:t>CLOSED-LOOP FEEDBACK GUARANTEE: Incomplete &amp; Incorrect attempts return to Stage B (Student Derivation) with targeted scaffolding until criteria are met.</a:t>
            </a:r>
          </a:p>
          <a:p>
            <a:pPr>
              <a:defRPr sz="950">
                <a:solidFill>
                  <a:srgbClr val="334155"/>
                </a:solidFill>
                <a:latin typeface="Calibri"/>
              </a:defRPr>
            </a:pPr>
            <a:r>
              <a:t>Conventional AI: Question -&gt; Solution (Stateless)   vs.   Mentor AI: Checkpoint -&gt; Attempt -&gt; Gated Verification -&gt; Scaffold -&gt; Mastery</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65760"/>
            <a:ext cx="10728655" cy="274320"/>
          </a:xfrm>
          <a:prstGeom prst="rect">
            <a:avLst/>
          </a:prstGeom>
          <a:noFill/>
        </p:spPr>
        <p:txBody>
          <a:bodyPr wrap="square" lIns="0" tIns="0" rIns="0" bIns="0">
            <a:spAutoFit/>
          </a:bodyPr>
          <a:lstStyle/>
          <a:p>
            <a:pPr>
              <a:defRPr sz="1000" b="1">
                <a:solidFill>
                  <a:srgbClr val="2563EB"/>
                </a:solidFill>
                <a:latin typeface="Calibri"/>
              </a:defRPr>
            </a:pPr>
            <a:r>
              <a:t>SECTION 7 - DATASET ENGINEERING &amp; PIPELINE</a:t>
            </a:r>
            <a:r>
              <a:rPr sz="1000" b="0">
                <a:solidFill>
                  <a:srgbClr val="64748B"/>
                </a:solidFill>
                <a:latin typeface="Calibri"/>
              </a:rPr>
              <a:t>  -  FROM RAW INSTRUCTIONAL TRANSCRIPTS TO VERIFIED ALTERNATING CHATML CORPUS</a:t>
            </a:r>
          </a:p>
        </p:txBody>
      </p:sp>
      <p:sp>
        <p:nvSpPr>
          <p:cNvPr id="3" name="TextBox 2"/>
          <p:cNvSpPr txBox="1"/>
          <p:nvPr/>
        </p:nvSpPr>
        <p:spPr>
          <a:xfrm>
            <a:off x="731520" y="640080"/>
            <a:ext cx="10728655" cy="594360"/>
          </a:xfrm>
          <a:prstGeom prst="rect">
            <a:avLst/>
          </a:prstGeom>
          <a:noFill/>
        </p:spPr>
        <p:txBody>
          <a:bodyPr wrap="square" lIns="0" tIns="0" rIns="0" bIns="0">
            <a:spAutoFit/>
          </a:bodyPr>
          <a:lstStyle/>
          <a:p>
            <a:pPr>
              <a:defRPr sz="2400" b="1">
                <a:solidFill>
                  <a:srgbClr val="0F172A"/>
                </a:solidFill>
                <a:latin typeface="Calibri"/>
              </a:defRPr>
            </a:pPr>
            <a:r>
              <a:t>Socratic Dataset Processing &amp; The 'Consecutive Roles' Bug</a:t>
            </a:r>
          </a:p>
        </p:txBody>
      </p:sp>
      <p:sp>
        <p:nvSpPr>
          <p:cNvPr id="4" name="Rounded Rectangle 3"/>
          <p:cNvSpPr/>
          <p:nvPr/>
        </p:nvSpPr>
        <p:spPr>
          <a:xfrm>
            <a:off x="731520" y="1371600"/>
            <a:ext cx="1920240" cy="118872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444752"/>
            <a:ext cx="1700784" cy="1005840"/>
          </a:xfrm>
          <a:prstGeom prst="rect">
            <a:avLst/>
          </a:prstGeom>
          <a:noFill/>
        </p:spPr>
        <p:txBody>
          <a:bodyPr wrap="square" lIns="0" tIns="0" rIns="0" bIns="0">
            <a:spAutoFit/>
          </a:bodyPr>
          <a:lstStyle/>
          <a:p>
            <a:pPr>
              <a:defRPr sz="1100" b="1">
                <a:solidFill>
                  <a:srgbClr val="0F172A"/>
                </a:solidFill>
                <a:latin typeface="Calibri"/>
              </a:defRPr>
            </a:pPr>
            <a:r>
              <a:t>1. Data Sources</a:t>
            </a:r>
          </a:p>
          <a:p>
            <a:pPr>
              <a:defRPr sz="900">
                <a:solidFill>
                  <a:srgbClr val="334155"/>
                </a:solidFill>
                <a:latin typeface="Calibri"/>
              </a:defRPr>
            </a:pPr>
            <a:r>
              <a:t>socrateach conversational transcripts, MathDial, DSA sets</a:t>
            </a:r>
          </a:p>
        </p:txBody>
      </p:sp>
      <p:sp>
        <p:nvSpPr>
          <p:cNvPr id="6" name="Rounded Rectangle 5"/>
          <p:cNvSpPr/>
          <p:nvPr/>
        </p:nvSpPr>
        <p:spPr>
          <a:xfrm>
            <a:off x="2834640" y="1371600"/>
            <a:ext cx="2011680" cy="118872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944368" y="1444752"/>
            <a:ext cx="1792224" cy="1005840"/>
          </a:xfrm>
          <a:prstGeom prst="rect">
            <a:avLst/>
          </a:prstGeom>
          <a:noFill/>
        </p:spPr>
        <p:txBody>
          <a:bodyPr wrap="square" lIns="0" tIns="0" rIns="0" bIns="0">
            <a:spAutoFit/>
          </a:bodyPr>
          <a:lstStyle/>
          <a:p>
            <a:pPr>
              <a:defRPr sz="1100" b="1">
                <a:solidFill>
                  <a:srgbClr val="0F172A"/>
                </a:solidFill>
                <a:latin typeface="Calibri"/>
              </a:defRPr>
            </a:pPr>
            <a:r>
              <a:t>2. Quality Filter</a:t>
            </a:r>
          </a:p>
          <a:p>
            <a:pPr>
              <a:defRPr sz="900">
                <a:solidFill>
                  <a:srgbClr val="334155"/>
                </a:solidFill>
                <a:latin typeface="Calibri"/>
              </a:defRPr>
            </a:pPr>
            <a:r>
              <a:t>Heuristics remove direct answer leaks &amp; offensive tokens</a:t>
            </a:r>
          </a:p>
        </p:txBody>
      </p:sp>
      <p:sp>
        <p:nvSpPr>
          <p:cNvPr id="8" name="Rounded Rectangle 7"/>
          <p:cNvSpPr/>
          <p:nvPr/>
        </p:nvSpPr>
        <p:spPr>
          <a:xfrm>
            <a:off x="5029200" y="1371600"/>
            <a:ext cx="2103120" cy="118872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138928" y="1444752"/>
            <a:ext cx="1883664" cy="1005840"/>
          </a:xfrm>
          <a:prstGeom prst="rect">
            <a:avLst/>
          </a:prstGeom>
          <a:noFill/>
        </p:spPr>
        <p:txBody>
          <a:bodyPr wrap="square" lIns="0" tIns="0" rIns="0" bIns="0">
            <a:spAutoFit/>
          </a:bodyPr>
          <a:lstStyle/>
          <a:p>
            <a:pPr>
              <a:defRPr sz="1100" b="1">
                <a:solidFill>
                  <a:srgbClr val="0F172A"/>
                </a:solidFill>
                <a:latin typeface="Calibri"/>
              </a:defRPr>
            </a:pPr>
            <a:r>
              <a:t>3. Socratic Transform</a:t>
            </a:r>
          </a:p>
          <a:p>
            <a:pPr>
              <a:defRPr sz="900">
                <a:solidFill>
                  <a:srgbClr val="334155"/>
                </a:solidFill>
                <a:latin typeface="Calibri"/>
              </a:defRPr>
            </a:pPr>
            <a:r>
              <a:t>Reformat multi-turn exchanges to guided inquiry</a:t>
            </a:r>
          </a:p>
        </p:txBody>
      </p:sp>
      <p:sp>
        <p:nvSpPr>
          <p:cNvPr id="10" name="Rounded Rectangle 9"/>
          <p:cNvSpPr/>
          <p:nvPr/>
        </p:nvSpPr>
        <p:spPr>
          <a:xfrm>
            <a:off x="7315200" y="1371600"/>
            <a:ext cx="2011680" cy="118872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424928" y="1444752"/>
            <a:ext cx="1792224" cy="1005840"/>
          </a:xfrm>
          <a:prstGeom prst="rect">
            <a:avLst/>
          </a:prstGeom>
          <a:noFill/>
        </p:spPr>
        <p:txBody>
          <a:bodyPr wrap="square" lIns="0" tIns="0" rIns="0" bIns="0">
            <a:spAutoFit/>
          </a:bodyPr>
          <a:lstStyle/>
          <a:p>
            <a:pPr>
              <a:defRPr sz="1100" b="1">
                <a:solidFill>
                  <a:srgbClr val="0F172A"/>
                </a:solidFill>
                <a:latin typeface="Calibri"/>
              </a:defRPr>
            </a:pPr>
            <a:r>
              <a:t>4. ChatML Schema</a:t>
            </a:r>
          </a:p>
          <a:p>
            <a:pPr>
              <a:defRPr sz="900">
                <a:solidFill>
                  <a:srgbClr val="334155"/>
                </a:solidFill>
                <a:latin typeface="Calibri"/>
              </a:defRPr>
            </a:pPr>
            <a:r>
              <a:t>Map to Qwen3 native template (&lt;|im_start|&gt;)</a:t>
            </a:r>
          </a:p>
        </p:txBody>
      </p:sp>
      <p:sp>
        <p:nvSpPr>
          <p:cNvPr id="12" name="Rounded Rectangle 11"/>
          <p:cNvSpPr/>
          <p:nvPr/>
        </p:nvSpPr>
        <p:spPr>
          <a:xfrm>
            <a:off x="9509760" y="1371600"/>
            <a:ext cx="1950415" cy="118872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619488" y="1444752"/>
            <a:ext cx="1730959" cy="1005840"/>
          </a:xfrm>
          <a:prstGeom prst="rect">
            <a:avLst/>
          </a:prstGeom>
          <a:noFill/>
        </p:spPr>
        <p:txBody>
          <a:bodyPr wrap="square" lIns="0" tIns="0" rIns="0" bIns="0">
            <a:spAutoFit/>
          </a:bodyPr>
          <a:lstStyle/>
          <a:p>
            <a:pPr>
              <a:defRPr sz="1100" b="1">
                <a:solidFill>
                  <a:srgbClr val="0F172A"/>
                </a:solidFill>
                <a:latin typeface="Calibri"/>
              </a:defRPr>
            </a:pPr>
            <a:r>
              <a:t>5. Completion Collation</a:t>
            </a:r>
          </a:p>
          <a:p>
            <a:pPr>
              <a:defRPr sz="900">
                <a:solidFill>
                  <a:srgbClr val="334155"/>
                </a:solidFill>
                <a:latin typeface="Calibri"/>
              </a:defRPr>
            </a:pPr>
            <a:r>
              <a:t>Mask loss before assistant tokens (DataCollator)</a:t>
            </a:r>
          </a:p>
        </p:txBody>
      </p:sp>
      <p:sp>
        <p:nvSpPr>
          <p:cNvPr id="14" name="TextBox 13"/>
          <p:cNvSpPr txBox="1"/>
          <p:nvPr/>
        </p:nvSpPr>
        <p:spPr>
          <a:xfrm>
            <a:off x="2651760" y="1783080"/>
            <a:ext cx="182880" cy="274320"/>
          </a:xfrm>
          <a:prstGeom prst="rect">
            <a:avLst/>
          </a:prstGeom>
          <a:noFill/>
        </p:spPr>
        <p:txBody>
          <a:bodyPr wrap="none">
            <a:spAutoFit/>
          </a:bodyPr>
          <a:lstStyle/>
          <a:p>
            <a:pPr>
              <a:defRPr sz="1400" b="1">
                <a:solidFill>
                  <a:srgbClr val="2563EB"/>
                </a:solidFill>
              </a:defRPr>
            </a:pPr>
            <a:r>
              <a:t>-&gt;</a:t>
            </a:r>
          </a:p>
        </p:txBody>
      </p:sp>
      <p:sp>
        <p:nvSpPr>
          <p:cNvPr id="15" name="TextBox 14"/>
          <p:cNvSpPr txBox="1"/>
          <p:nvPr/>
        </p:nvSpPr>
        <p:spPr>
          <a:xfrm>
            <a:off x="4846320" y="1783080"/>
            <a:ext cx="182880" cy="274320"/>
          </a:xfrm>
          <a:prstGeom prst="rect">
            <a:avLst/>
          </a:prstGeom>
          <a:noFill/>
        </p:spPr>
        <p:txBody>
          <a:bodyPr wrap="none">
            <a:spAutoFit/>
          </a:bodyPr>
          <a:lstStyle/>
          <a:p>
            <a:pPr>
              <a:defRPr sz="1400" b="1">
                <a:solidFill>
                  <a:srgbClr val="2563EB"/>
                </a:solidFill>
              </a:defRPr>
            </a:pPr>
            <a:r>
              <a:t>-&gt;</a:t>
            </a:r>
          </a:p>
        </p:txBody>
      </p:sp>
      <p:sp>
        <p:nvSpPr>
          <p:cNvPr id="16" name="TextBox 15"/>
          <p:cNvSpPr txBox="1"/>
          <p:nvPr/>
        </p:nvSpPr>
        <p:spPr>
          <a:xfrm>
            <a:off x="7132320" y="1783080"/>
            <a:ext cx="182880" cy="274320"/>
          </a:xfrm>
          <a:prstGeom prst="rect">
            <a:avLst/>
          </a:prstGeom>
          <a:noFill/>
        </p:spPr>
        <p:txBody>
          <a:bodyPr wrap="none">
            <a:spAutoFit/>
          </a:bodyPr>
          <a:lstStyle/>
          <a:p>
            <a:pPr>
              <a:defRPr sz="1400" b="1">
                <a:solidFill>
                  <a:srgbClr val="2563EB"/>
                </a:solidFill>
              </a:defRPr>
            </a:pPr>
            <a:r>
              <a:t>-&gt;</a:t>
            </a:r>
          </a:p>
        </p:txBody>
      </p:sp>
      <p:sp>
        <p:nvSpPr>
          <p:cNvPr id="17" name="TextBox 16"/>
          <p:cNvSpPr txBox="1"/>
          <p:nvPr/>
        </p:nvSpPr>
        <p:spPr>
          <a:xfrm>
            <a:off x="9326880" y="1783080"/>
            <a:ext cx="182880" cy="274320"/>
          </a:xfrm>
          <a:prstGeom prst="rect">
            <a:avLst/>
          </a:prstGeom>
          <a:noFill/>
        </p:spPr>
        <p:txBody>
          <a:bodyPr wrap="none">
            <a:spAutoFit/>
          </a:bodyPr>
          <a:lstStyle/>
          <a:p>
            <a:pPr>
              <a:defRPr sz="1400" b="1">
                <a:solidFill>
                  <a:srgbClr val="2563EB"/>
                </a:solidFill>
              </a:defRPr>
            </a:pPr>
            <a:r>
              <a:t>-&gt;</a:t>
            </a:r>
          </a:p>
        </p:txBody>
      </p:sp>
      <p:sp>
        <p:nvSpPr>
          <p:cNvPr id="18" name="Rounded Rectangle 17"/>
          <p:cNvSpPr/>
          <p:nvPr/>
        </p:nvSpPr>
        <p:spPr>
          <a:xfrm>
            <a:off x="731520" y="2834640"/>
            <a:ext cx="5212080" cy="320040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60120" y="2971800"/>
            <a:ext cx="4754880" cy="2926080"/>
          </a:xfrm>
          <a:prstGeom prst="rect">
            <a:avLst/>
          </a:prstGeom>
          <a:noFill/>
        </p:spPr>
        <p:txBody>
          <a:bodyPr wrap="square" lIns="0" tIns="0" rIns="0" bIns="0">
            <a:spAutoFit/>
          </a:bodyPr>
          <a:lstStyle/>
          <a:p>
            <a:pPr>
              <a:spcAft>
                <a:spcPts val="800"/>
              </a:spcAft>
              <a:defRPr sz="1400" b="1">
                <a:solidFill>
                  <a:srgbClr val="0F172A"/>
                </a:solidFill>
                <a:latin typeface="Calibri"/>
              </a:defRPr>
            </a:pPr>
            <a:r>
              <a:t>Verified Corpus Statistics</a:t>
            </a:r>
          </a:p>
          <a:p>
            <a:pPr>
              <a:spcAft>
                <a:spcPts val="600"/>
              </a:spcAft>
              <a:defRPr sz="1050"/>
            </a:pPr>
            <a:r>
              <a:rPr b="1">
                <a:solidFill>
                  <a:srgbClr val="0F172A"/>
                </a:solidFill>
              </a:rPr>
              <a:t>* Cleaned Dataset: </a:t>
            </a:r>
            <a:r>
              <a:rPr>
                <a:solidFill>
                  <a:srgbClr val="334155"/>
                </a:solidFill>
              </a:rPr>
              <a:t>13,859 multi-turn instructional interactions in socratic_phase1_5_v2_cleaned.jsonl.</a:t>
            </a:r>
          </a:p>
          <a:p>
            <a:pPr>
              <a:spcAft>
                <a:spcPts val="600"/>
              </a:spcAft>
              <a:defRPr sz="1050"/>
            </a:pPr>
            <a:r>
              <a:rPr b="1">
                <a:solidFill>
                  <a:srgbClr val="0F172A"/>
                </a:solidFill>
              </a:rPr>
              <a:t>* Tokenization: </a:t>
            </a:r>
            <a:r>
              <a:rPr>
                <a:solidFill>
                  <a:srgbClr val="334155"/>
                </a:solidFill>
              </a:rPr>
              <a:t>Native Qwen3 ChatML formatting preserving pre-trained reasoning abilities.</a:t>
            </a:r>
          </a:p>
          <a:p>
            <a:pPr>
              <a:spcAft>
                <a:spcPts val="600"/>
              </a:spcAft>
              <a:defRPr sz="1050"/>
            </a:pPr>
            <a:r>
              <a:rPr b="1">
                <a:solidFill>
                  <a:srgbClr val="0F172A"/>
                </a:solidFill>
              </a:rPr>
              <a:t>* Completion Loss Masking: </a:t>
            </a:r>
            <a:r>
              <a:rPr>
                <a:solidFill>
                  <a:srgbClr val="334155"/>
                </a:solidFill>
              </a:rPr>
              <a:t>Loss strictly calculated on assistant pedagogical responses, preventing gradient distortion from student queries.</a:t>
            </a:r>
          </a:p>
        </p:txBody>
      </p:sp>
      <p:sp>
        <p:nvSpPr>
          <p:cNvPr id="20" name="Rounded Rectangle 19"/>
          <p:cNvSpPr/>
          <p:nvPr/>
        </p:nvSpPr>
        <p:spPr>
          <a:xfrm>
            <a:off x="6248095" y="2834640"/>
            <a:ext cx="5212080" cy="3200400"/>
          </a:xfrm>
          <a:prstGeom prst="roundRect">
            <a:avLst/>
          </a:prstGeom>
          <a:solidFill>
            <a:srgbClr val="FFFBEB"/>
          </a:solidFill>
          <a:ln w="1270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76695" y="2971800"/>
            <a:ext cx="4754880" cy="2926080"/>
          </a:xfrm>
          <a:prstGeom prst="rect">
            <a:avLst/>
          </a:prstGeom>
          <a:noFill/>
        </p:spPr>
        <p:txBody>
          <a:bodyPr wrap="square" lIns="0" tIns="0" rIns="0" bIns="0">
            <a:spAutoFit/>
          </a:bodyPr>
          <a:lstStyle/>
          <a:p>
            <a:pPr>
              <a:spcAft>
                <a:spcPts val="600"/>
              </a:spcAft>
              <a:defRPr sz="1400" b="1">
                <a:solidFill>
                  <a:srgbClr val="DC2626"/>
                </a:solidFill>
                <a:latin typeface="Calibri"/>
              </a:defRPr>
            </a:pPr>
            <a:r>
              <a:t>Data Forensics: The Consecutive Roles Bug</a:t>
            </a:r>
          </a:p>
          <a:p>
            <a:pPr>
              <a:spcAft>
                <a:spcPts val="200"/>
              </a:spcAft>
              <a:defRPr sz="1000"/>
            </a:pPr>
            <a:r>
              <a:rPr b="1">
                <a:solidFill>
                  <a:srgbClr val="0F172A"/>
                </a:solidFill>
              </a:rPr>
              <a:t>  - Analyzed MathDial Subset: </a:t>
            </a:r>
            <a:r>
              <a:rPr>
                <a:solidFill>
                  <a:srgbClr val="DC2626"/>
                </a:solidFill>
              </a:rPr>
              <a:t>1,035 total conversations</a:t>
            </a:r>
          </a:p>
          <a:p>
            <a:pPr>
              <a:spcAft>
                <a:spcPts val="200"/>
              </a:spcAft>
              <a:defRPr sz="1000"/>
            </a:pPr>
            <a:r>
              <a:rPr b="1">
                <a:solidFill>
                  <a:srgbClr val="0F172A"/>
                </a:solidFill>
              </a:rPr>
              <a:t>  - Corrupted Conversations: </a:t>
            </a:r>
            <a:r>
              <a:rPr>
                <a:solidFill>
                  <a:srgbClr val="DC2626"/>
                </a:solidFill>
              </a:rPr>
              <a:t>140 dialogues (13.5% structural error)</a:t>
            </a:r>
          </a:p>
          <a:p>
            <a:pPr>
              <a:spcAft>
                <a:spcPts val="200"/>
              </a:spcAft>
              <a:defRPr sz="1000"/>
            </a:pPr>
            <a:r>
              <a:rPr b="1">
                <a:solidFill>
                  <a:srgbClr val="0F172A"/>
                </a:solidFill>
              </a:rPr>
              <a:t>  - Consecutive Assistant Pairs: </a:t>
            </a:r>
            <a:r>
              <a:rPr>
                <a:solidFill>
                  <a:srgbClr val="DC2626"/>
                </a:solidFill>
              </a:rPr>
              <a:t>219 sequential pairs (Max run length = 8!)</a:t>
            </a:r>
          </a:p>
          <a:p>
            <a:pPr>
              <a:spcAft>
                <a:spcPts val="200"/>
              </a:spcAft>
              <a:defRPr sz="1000"/>
            </a:pPr>
            <a:r>
              <a:rPr b="1">
                <a:solidFill>
                  <a:srgbClr val="0F172A"/>
                </a:solidFill>
              </a:rPr>
              <a:t>  - Consecutive User Pairs: </a:t>
            </a:r>
            <a:r>
              <a:rPr>
                <a:solidFill>
                  <a:srgbClr val="DC2626"/>
                </a:solidFill>
              </a:rPr>
              <a:t>0 instances (exclusively assistant role bug)</a:t>
            </a:r>
          </a:p>
          <a:p>
            <a:pPr>
              <a:spcBef>
                <a:spcPts val="600"/>
              </a:spcBef>
              <a:defRPr sz="1000"/>
            </a:pPr>
            <a:r>
              <a:rPr b="1">
                <a:solidFill>
                  <a:srgbClr val="0F172A"/>
                </a:solidFill>
              </a:rPr>
              <a:t>Diagnostic Impact: </a:t>
            </a:r>
            <a:r>
              <a:rPr>
                <a:solidFill>
                  <a:srgbClr val="334155"/>
                </a:solidFill>
              </a:rPr>
              <a:t>Injected fragmented &lt;think&gt; tags, breaking standard completion-collator attention and directly causing Experiment #1's behavioral collapse. Resolved via custom parsing in Phase 2A.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65760"/>
            <a:ext cx="10728655" cy="274320"/>
          </a:xfrm>
          <a:prstGeom prst="rect">
            <a:avLst/>
          </a:prstGeom>
          <a:noFill/>
        </p:spPr>
        <p:txBody>
          <a:bodyPr wrap="square" lIns="0" tIns="0" rIns="0" bIns="0">
            <a:spAutoFit/>
          </a:bodyPr>
          <a:lstStyle/>
          <a:p>
            <a:pPr>
              <a:defRPr sz="1000" b="1">
                <a:solidFill>
                  <a:srgbClr val="2563EB"/>
                </a:solidFill>
                <a:latin typeface="Calibri"/>
              </a:defRPr>
            </a:pPr>
            <a:r>
              <a:t>SECTION 8 - MODEL DEVELOPMENT LIFECYCLE</a:t>
            </a:r>
            <a:r>
              <a:rPr sz="1000" b="0">
                <a:solidFill>
                  <a:srgbClr val="64748B"/>
                </a:solidFill>
                <a:latin typeface="Calibri"/>
              </a:rPr>
              <a:t>  -  FROM BASE FOUNDATION MODEL TO FINE-TUNED VLLM SERVING</a:t>
            </a:r>
          </a:p>
        </p:txBody>
      </p:sp>
      <p:sp>
        <p:nvSpPr>
          <p:cNvPr id="3" name="TextBox 2"/>
          <p:cNvSpPr txBox="1"/>
          <p:nvPr/>
        </p:nvSpPr>
        <p:spPr>
          <a:xfrm>
            <a:off x="731520" y="640080"/>
            <a:ext cx="10728655" cy="594360"/>
          </a:xfrm>
          <a:prstGeom prst="rect">
            <a:avLst/>
          </a:prstGeom>
          <a:noFill/>
        </p:spPr>
        <p:txBody>
          <a:bodyPr wrap="square" lIns="0" tIns="0" rIns="0" bIns="0">
            <a:spAutoFit/>
          </a:bodyPr>
          <a:lstStyle/>
          <a:p>
            <a:pPr>
              <a:defRPr sz="2400" b="1">
                <a:solidFill>
                  <a:srgbClr val="0F172A"/>
                </a:solidFill>
                <a:latin typeface="Calibri"/>
              </a:defRPr>
            </a:pPr>
            <a:r>
              <a:t>Iterative Training Journey &amp; Adaptation Decisions</a:t>
            </a:r>
          </a:p>
        </p:txBody>
      </p:sp>
      <p:sp>
        <p:nvSpPr>
          <p:cNvPr id="4" name="Rounded Rectangle 3"/>
          <p:cNvSpPr/>
          <p:nvPr/>
        </p:nvSpPr>
        <p:spPr>
          <a:xfrm>
            <a:off x="731520" y="1371600"/>
            <a:ext cx="2499055" cy="246888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1481328"/>
            <a:ext cx="2224735" cy="2240280"/>
          </a:xfrm>
          <a:prstGeom prst="rect">
            <a:avLst/>
          </a:prstGeom>
          <a:noFill/>
        </p:spPr>
        <p:txBody>
          <a:bodyPr wrap="square" lIns="0" tIns="0" rIns="0" bIns="0">
            <a:spAutoFit/>
          </a:bodyPr>
          <a:lstStyle/>
          <a:p>
            <a:pPr>
              <a:spcAft>
                <a:spcPts val="1000"/>
              </a:spcAft>
              <a:defRPr sz="1100" b="1">
                <a:solidFill>
                  <a:srgbClr val="0F172A"/>
                </a:solidFill>
                <a:latin typeface="Calibri"/>
              </a:defRPr>
            </a:pPr>
            <a:r>
              <a:t>PHASE 1: BASE MODEL</a:t>
            </a:r>
          </a:p>
          <a:p>
            <a:pPr>
              <a:spcAft>
                <a:spcPts val="600"/>
              </a:spcAft>
              <a:defRPr sz="1000"/>
            </a:pPr>
            <a:r>
              <a:rPr b="1">
                <a:solidFill>
                  <a:srgbClr val="0F172A"/>
                </a:solidFill>
              </a:rPr>
              <a:t>Selection: </a:t>
            </a:r>
            <a:r>
              <a:rPr>
                <a:solidFill>
                  <a:srgbClr val="334155"/>
                </a:solidFill>
              </a:rPr>
              <a:t>Qwen/Qwen3-8B (8.03B params).</a:t>
            </a:r>
          </a:p>
          <a:p>
            <a:pPr>
              <a:spcAft>
                <a:spcPts val="600"/>
              </a:spcAft>
              <a:defRPr sz="1000"/>
            </a:pPr>
            <a:r>
              <a:rPr b="1">
                <a:solidFill>
                  <a:srgbClr val="0F172A"/>
                </a:solidFill>
              </a:rPr>
              <a:t>Capability: </a:t>
            </a:r>
            <a:r>
              <a:rPr>
                <a:solidFill>
                  <a:srgbClr val="334155"/>
                </a:solidFill>
              </a:rPr>
              <a:t>Strong zero-shot logic &amp; math.</a:t>
            </a:r>
          </a:p>
          <a:p>
            <a:pPr>
              <a:spcAft>
                <a:spcPts val="600"/>
              </a:spcAft>
              <a:defRPr sz="1000"/>
            </a:pPr>
            <a:r>
              <a:rPr b="1">
                <a:solidFill>
                  <a:srgbClr val="0F172A"/>
                </a:solidFill>
              </a:rPr>
              <a:t>Defect: </a:t>
            </a:r>
            <a:r>
              <a:rPr>
                <a:solidFill>
                  <a:srgbClr val="334155"/>
                </a:solidFill>
              </a:rPr>
              <a:t>Answer leakage when pressured.</a:t>
            </a:r>
          </a:p>
        </p:txBody>
      </p:sp>
      <p:sp>
        <p:nvSpPr>
          <p:cNvPr id="6" name="Rounded Rectangle 5"/>
          <p:cNvSpPr/>
          <p:nvPr/>
        </p:nvSpPr>
        <p:spPr>
          <a:xfrm>
            <a:off x="3474720" y="1371600"/>
            <a:ext cx="2499055" cy="2468880"/>
          </a:xfrm>
          <a:prstGeom prst="roundRect">
            <a:avLst/>
          </a:prstGeom>
          <a:solidFill>
            <a:srgbClr val="FEF2F2"/>
          </a:solidFill>
          <a:ln w="12700">
            <a:solidFill>
              <a:srgbClr val="DC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11880" y="1481328"/>
            <a:ext cx="2224735" cy="2240280"/>
          </a:xfrm>
          <a:prstGeom prst="rect">
            <a:avLst/>
          </a:prstGeom>
          <a:noFill/>
        </p:spPr>
        <p:txBody>
          <a:bodyPr wrap="square" lIns="0" tIns="0" rIns="0" bIns="0">
            <a:spAutoFit/>
          </a:bodyPr>
          <a:lstStyle/>
          <a:p>
            <a:pPr>
              <a:spcAft>
                <a:spcPts val="1000"/>
              </a:spcAft>
              <a:defRPr sz="1100" b="1">
                <a:solidFill>
                  <a:srgbClr val="DC2626"/>
                </a:solidFill>
                <a:latin typeface="Calibri"/>
              </a:defRPr>
            </a:pPr>
            <a:r>
              <a:t>PHASE 2: EXPERIMENT #1</a:t>
            </a:r>
          </a:p>
          <a:p>
            <a:pPr>
              <a:spcAft>
                <a:spcPts val="600"/>
              </a:spcAft>
              <a:defRPr sz="1000"/>
            </a:pPr>
            <a:r>
              <a:rPr b="1">
                <a:solidFill>
                  <a:srgbClr val="0F172A"/>
                </a:solidFill>
              </a:rPr>
              <a:t>Approach: </a:t>
            </a:r>
            <a:r>
              <a:rPr>
                <a:solidFill>
                  <a:srgbClr val="334155"/>
                </a:solidFill>
              </a:rPr>
              <a:t>Naive SFT (2,586 steps).</a:t>
            </a:r>
          </a:p>
          <a:p>
            <a:pPr>
              <a:spcAft>
                <a:spcPts val="600"/>
              </a:spcAft>
              <a:defRPr sz="1000"/>
            </a:pPr>
            <a:r>
              <a:rPr b="1">
                <a:solidFill>
                  <a:srgbClr val="0F172A"/>
                </a:solidFill>
              </a:rPr>
              <a:t>Finding: </a:t>
            </a:r>
            <a:r>
              <a:rPr>
                <a:solidFill>
                  <a:srgbClr val="334155"/>
                </a:solidFill>
              </a:rPr>
              <a:t>Severe behavioral collapse.</a:t>
            </a:r>
          </a:p>
          <a:p>
            <a:pPr>
              <a:spcAft>
                <a:spcPts val="600"/>
              </a:spcAft>
              <a:defRPr sz="1000"/>
            </a:pPr>
            <a:r>
              <a:rPr b="1">
                <a:solidFill>
                  <a:srgbClr val="0F172A"/>
                </a:solidFill>
              </a:rPr>
              <a:t>Root Cause: </a:t>
            </a:r>
            <a:r>
              <a:rPr>
                <a:solidFill>
                  <a:srgbClr val="334155"/>
                </a:solidFill>
              </a:rPr>
              <a:t>Consecutive roles anomaly.</a:t>
            </a:r>
          </a:p>
        </p:txBody>
      </p:sp>
      <p:sp>
        <p:nvSpPr>
          <p:cNvPr id="8" name="Rounded Rectangle 7"/>
          <p:cNvSpPr/>
          <p:nvPr/>
        </p:nvSpPr>
        <p:spPr>
          <a:xfrm>
            <a:off x="6217920" y="1371600"/>
            <a:ext cx="2499055" cy="2468880"/>
          </a:xfrm>
          <a:prstGeom prst="roundRect">
            <a:avLst/>
          </a:prstGeom>
          <a:solidFill>
            <a:srgbClr val="ECFDF5"/>
          </a:solidFill>
          <a:ln w="12700">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355080" y="1481328"/>
            <a:ext cx="2224735" cy="2240280"/>
          </a:xfrm>
          <a:prstGeom prst="rect">
            <a:avLst/>
          </a:prstGeom>
          <a:noFill/>
        </p:spPr>
        <p:txBody>
          <a:bodyPr wrap="square" lIns="0" tIns="0" rIns="0" bIns="0">
            <a:spAutoFit/>
          </a:bodyPr>
          <a:lstStyle/>
          <a:p>
            <a:pPr>
              <a:spcAft>
                <a:spcPts val="1000"/>
              </a:spcAft>
              <a:defRPr sz="1100" b="1">
                <a:solidFill>
                  <a:srgbClr val="059669"/>
                </a:solidFill>
                <a:latin typeface="Calibri"/>
              </a:defRPr>
            </a:pPr>
            <a:r>
              <a:t>PHASE 3: EXPERIMENT #2 (2A)</a:t>
            </a:r>
          </a:p>
          <a:p>
            <a:pPr>
              <a:spcAft>
                <a:spcPts val="600"/>
              </a:spcAft>
              <a:defRPr sz="1000"/>
            </a:pPr>
            <a:r>
              <a:rPr b="1">
                <a:solidFill>
                  <a:srgbClr val="0F172A"/>
                </a:solidFill>
              </a:rPr>
              <a:t>Approach: </a:t>
            </a:r>
            <a:r>
              <a:rPr>
                <a:solidFill>
                  <a:srgbClr val="334155"/>
                </a:solidFill>
              </a:rPr>
              <a:t>4-bit QLoRA via Unsloth.</a:t>
            </a:r>
          </a:p>
          <a:p>
            <a:pPr>
              <a:spcAft>
                <a:spcPts val="600"/>
              </a:spcAft>
              <a:defRPr sz="1000"/>
            </a:pPr>
            <a:r>
              <a:rPr b="1">
                <a:solidFill>
                  <a:srgbClr val="0F172A"/>
                </a:solidFill>
              </a:rPr>
              <a:t>Dataset: </a:t>
            </a:r>
            <a:r>
              <a:rPr>
                <a:solidFill>
                  <a:srgbClr val="334155"/>
                </a:solidFill>
              </a:rPr>
              <a:t>13,859 cleaned multi-turn samples.</a:t>
            </a:r>
          </a:p>
          <a:p>
            <a:pPr>
              <a:spcAft>
                <a:spcPts val="600"/>
              </a:spcAft>
              <a:defRPr sz="1000"/>
            </a:pPr>
            <a:r>
              <a:rPr b="1">
                <a:solidFill>
                  <a:srgbClr val="0F172A"/>
                </a:solidFill>
              </a:rPr>
              <a:t>Outcome: </a:t>
            </a:r>
            <a:r>
              <a:rPr>
                <a:solidFill>
                  <a:srgbClr val="334155"/>
                </a:solidFill>
              </a:rPr>
              <a:t>+1.72 leakage prevention recovery.</a:t>
            </a:r>
          </a:p>
        </p:txBody>
      </p:sp>
      <p:sp>
        <p:nvSpPr>
          <p:cNvPr id="10" name="Rounded Rectangle 9"/>
          <p:cNvSpPr/>
          <p:nvPr/>
        </p:nvSpPr>
        <p:spPr>
          <a:xfrm>
            <a:off x="8961120" y="1371600"/>
            <a:ext cx="2499055" cy="2468880"/>
          </a:xfrm>
          <a:prstGeom prst="roundRect">
            <a:avLst/>
          </a:prstGeom>
          <a:solidFill>
            <a:srgbClr val="EFF6FF"/>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098280" y="1481328"/>
            <a:ext cx="2224735" cy="2240280"/>
          </a:xfrm>
          <a:prstGeom prst="rect">
            <a:avLst/>
          </a:prstGeom>
          <a:noFill/>
        </p:spPr>
        <p:txBody>
          <a:bodyPr wrap="square" lIns="0" tIns="0" rIns="0" bIns="0">
            <a:spAutoFit/>
          </a:bodyPr>
          <a:lstStyle/>
          <a:p>
            <a:pPr>
              <a:spcAft>
                <a:spcPts val="1000"/>
              </a:spcAft>
              <a:defRPr sz="1100" b="1">
                <a:solidFill>
                  <a:srgbClr val="2563EB"/>
                </a:solidFill>
                <a:latin typeface="Calibri"/>
              </a:defRPr>
            </a:pPr>
            <a:r>
              <a:t>PHASE 4: vLLM SERVING</a:t>
            </a:r>
          </a:p>
          <a:p>
            <a:pPr>
              <a:spcAft>
                <a:spcPts val="600"/>
              </a:spcAft>
              <a:defRPr sz="1000"/>
            </a:pPr>
            <a:r>
              <a:rPr b="1">
                <a:solidFill>
                  <a:srgbClr val="0F172A"/>
                </a:solidFill>
              </a:rPr>
              <a:t>Packaging: </a:t>
            </a:r>
            <a:r>
              <a:rPr>
                <a:solidFill>
                  <a:srgbClr val="334155"/>
                </a:solidFill>
              </a:rPr>
              <a:t>~160MB LoRA adapter to HF Hub.</a:t>
            </a:r>
          </a:p>
          <a:p>
            <a:pPr>
              <a:spcAft>
                <a:spcPts val="600"/>
              </a:spcAft>
              <a:defRPr sz="1000"/>
            </a:pPr>
            <a:r>
              <a:rPr b="1">
                <a:solidFill>
                  <a:srgbClr val="0F172A"/>
                </a:solidFill>
              </a:rPr>
              <a:t>Runtime: </a:t>
            </a:r>
            <a:r>
              <a:rPr>
                <a:solidFill>
                  <a:srgbClr val="334155"/>
                </a:solidFill>
              </a:rPr>
              <a:t>vLLM with --enable-lora.</a:t>
            </a:r>
          </a:p>
          <a:p>
            <a:pPr>
              <a:spcAft>
                <a:spcPts val="600"/>
              </a:spcAft>
              <a:defRPr sz="1000"/>
            </a:pPr>
            <a:r>
              <a:rPr b="1">
                <a:solidFill>
                  <a:srgbClr val="0F172A"/>
                </a:solidFill>
              </a:rPr>
              <a:t>Infrastructure: </a:t>
            </a:r>
            <a:r>
              <a:rPr>
                <a:solidFill>
                  <a:srgbClr val="334155"/>
                </a:solidFill>
              </a:rPr>
              <a:t>RunPod serverless worker.</a:t>
            </a:r>
          </a:p>
        </p:txBody>
      </p:sp>
      <p:sp>
        <p:nvSpPr>
          <p:cNvPr id="12" name="TextBox 11"/>
          <p:cNvSpPr txBox="1"/>
          <p:nvPr/>
        </p:nvSpPr>
        <p:spPr>
          <a:xfrm>
            <a:off x="3246120" y="2377440"/>
            <a:ext cx="182880" cy="274320"/>
          </a:xfrm>
          <a:prstGeom prst="rect">
            <a:avLst/>
          </a:prstGeom>
          <a:noFill/>
        </p:spPr>
        <p:txBody>
          <a:bodyPr wrap="none">
            <a:spAutoFit/>
          </a:bodyPr>
          <a:lstStyle/>
          <a:p>
            <a:pPr>
              <a:defRPr sz="1600" b="1">
                <a:solidFill>
                  <a:srgbClr val="64748B"/>
                </a:solidFill>
              </a:defRPr>
            </a:pPr>
            <a:r>
              <a:t>-&gt;</a:t>
            </a:r>
          </a:p>
        </p:txBody>
      </p:sp>
      <p:sp>
        <p:nvSpPr>
          <p:cNvPr id="13" name="TextBox 12"/>
          <p:cNvSpPr txBox="1"/>
          <p:nvPr/>
        </p:nvSpPr>
        <p:spPr>
          <a:xfrm>
            <a:off x="5989320" y="2377440"/>
            <a:ext cx="182880" cy="274320"/>
          </a:xfrm>
          <a:prstGeom prst="rect">
            <a:avLst/>
          </a:prstGeom>
          <a:noFill/>
        </p:spPr>
        <p:txBody>
          <a:bodyPr wrap="none">
            <a:spAutoFit/>
          </a:bodyPr>
          <a:lstStyle/>
          <a:p>
            <a:pPr>
              <a:defRPr sz="1600" b="1">
                <a:solidFill>
                  <a:srgbClr val="64748B"/>
                </a:solidFill>
              </a:defRPr>
            </a:pPr>
            <a:r>
              <a:t>-&gt;</a:t>
            </a:r>
          </a:p>
        </p:txBody>
      </p:sp>
      <p:sp>
        <p:nvSpPr>
          <p:cNvPr id="14" name="TextBox 13"/>
          <p:cNvSpPr txBox="1"/>
          <p:nvPr/>
        </p:nvSpPr>
        <p:spPr>
          <a:xfrm>
            <a:off x="8732520" y="2377440"/>
            <a:ext cx="182880" cy="274320"/>
          </a:xfrm>
          <a:prstGeom prst="rect">
            <a:avLst/>
          </a:prstGeom>
          <a:noFill/>
        </p:spPr>
        <p:txBody>
          <a:bodyPr wrap="none">
            <a:spAutoFit/>
          </a:bodyPr>
          <a:lstStyle/>
          <a:p>
            <a:pPr>
              <a:defRPr sz="1600" b="1">
                <a:solidFill>
                  <a:srgbClr val="64748B"/>
                </a:solidFill>
              </a:defRPr>
            </a:pPr>
            <a:r>
              <a:t>-&gt;</a:t>
            </a:r>
          </a:p>
        </p:txBody>
      </p:sp>
      <p:sp>
        <p:nvSpPr>
          <p:cNvPr id="15" name="Rounded Rectangle 14"/>
          <p:cNvSpPr/>
          <p:nvPr/>
        </p:nvSpPr>
        <p:spPr>
          <a:xfrm>
            <a:off x="731520" y="4114800"/>
            <a:ext cx="10728655" cy="201168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60120" y="4251960"/>
            <a:ext cx="10271455" cy="1737360"/>
          </a:xfrm>
          <a:prstGeom prst="rect">
            <a:avLst/>
          </a:prstGeom>
          <a:noFill/>
        </p:spPr>
        <p:txBody>
          <a:bodyPr wrap="square" lIns="0" tIns="0" rIns="0" bIns="0">
            <a:spAutoFit/>
          </a:bodyPr>
          <a:lstStyle/>
          <a:p>
            <a:pPr>
              <a:spcAft>
                <a:spcPts val="600"/>
              </a:spcAft>
              <a:defRPr sz="1300" b="1">
                <a:solidFill>
                  <a:srgbClr val="0F172A"/>
                </a:solidFill>
                <a:latin typeface="Calibri"/>
              </a:defRPr>
            </a:pPr>
            <a:r>
              <a:t>Key Architectural &amp; Training Decisions</a:t>
            </a:r>
          </a:p>
          <a:p>
            <a:pPr>
              <a:spcAft>
                <a:spcPts val="400"/>
              </a:spcAft>
              <a:defRPr sz="1000"/>
            </a:pPr>
            <a:r>
              <a:rPr b="1">
                <a:solidFill>
                  <a:srgbClr val="0F172A"/>
                </a:solidFill>
              </a:rPr>
              <a:t>* Why QLoRA over Full Fine-Tuning? </a:t>
            </a:r>
            <a:r>
              <a:rPr>
                <a:solidFill>
                  <a:srgbClr val="334155"/>
                </a:solidFill>
              </a:rPr>
              <a:t>Full fine-tuning 8B parameters requires multi-GPU clusters and induces catastrophic forgetting. QLoRA (4-bit NF4, r=16, alpha=32) updates &lt;1% of weights, retaining 99.6% of base MMLU reasoning within 24GB VRAM.</a:t>
            </a:r>
          </a:p>
          <a:p>
            <a:pPr>
              <a:spcAft>
                <a:spcPts val="400"/>
              </a:spcAft>
              <a:defRPr sz="1000"/>
            </a:pPr>
            <a:r>
              <a:rPr b="1">
                <a:solidFill>
                  <a:srgbClr val="0F172A"/>
                </a:solidFill>
              </a:rPr>
              <a:t>* Why Dynamic LoRA Hot-Swapping? </a:t>
            </a:r>
            <a:r>
              <a:rPr>
                <a:solidFill>
                  <a:srgbClr val="334155"/>
                </a:solidFill>
              </a:rPr>
              <a:t>Exporting a lightweight ~160MB adapter rather than a full 16GB merged model enables vLLM to dynamically hot-swap adapters at runtime via Hugging Face Hub, allowing agile A/B testing without server downtime.</a:t>
            </a:r>
          </a:p>
          <a:p>
            <a:pPr>
              <a:spcAft>
                <a:spcPts val="400"/>
              </a:spcAft>
              <a:defRPr sz="1000"/>
            </a:pPr>
            <a:r>
              <a:rPr b="1">
                <a:solidFill>
                  <a:srgbClr val="0F172A"/>
                </a:solidFill>
              </a:rPr>
              <a:t>* Why Decouple from Inference Weights? </a:t>
            </a:r>
            <a:r>
              <a:rPr>
                <a:solidFill>
                  <a:srgbClr val="334155"/>
                </a:solidFill>
              </a:rPr>
              <a:t>The FastAPI application container never loads PyTorch weights locally. It acts purely as a coordinator, decoupling memory-heavy inference from stateful business logic.</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65760"/>
            <a:ext cx="10728655" cy="274320"/>
          </a:xfrm>
          <a:prstGeom prst="rect">
            <a:avLst/>
          </a:prstGeom>
          <a:noFill/>
        </p:spPr>
        <p:txBody>
          <a:bodyPr wrap="square" lIns="0" tIns="0" rIns="0" bIns="0">
            <a:spAutoFit/>
          </a:bodyPr>
          <a:lstStyle/>
          <a:p>
            <a:pPr>
              <a:defRPr sz="1000" b="1">
                <a:solidFill>
                  <a:srgbClr val="2563EB"/>
                </a:solidFill>
                <a:latin typeface="Calibri"/>
              </a:defRPr>
            </a:pPr>
            <a:r>
              <a:t>SECTION 9 - DEPLOYMENT &amp; OPERATIONS</a:t>
            </a:r>
            <a:r>
              <a:rPr sz="1000" b="0">
                <a:solidFill>
                  <a:srgbClr val="64748B"/>
                </a:solidFill>
                <a:latin typeface="Calibri"/>
              </a:rPr>
              <a:t>  -  VERIFIED DOCKER COMPOSE TOPOLOGY, RUNPOD SERVERLESS EXECUTION &amp; STARTUP PIPELINE</a:t>
            </a:r>
          </a:p>
        </p:txBody>
      </p:sp>
      <p:sp>
        <p:nvSpPr>
          <p:cNvPr id="3" name="TextBox 2"/>
          <p:cNvSpPr txBox="1"/>
          <p:nvPr/>
        </p:nvSpPr>
        <p:spPr>
          <a:xfrm>
            <a:off x="731520" y="640080"/>
            <a:ext cx="10728655" cy="594360"/>
          </a:xfrm>
          <a:prstGeom prst="rect">
            <a:avLst/>
          </a:prstGeom>
          <a:noFill/>
        </p:spPr>
        <p:txBody>
          <a:bodyPr wrap="square" lIns="0" tIns="0" rIns="0" bIns="0">
            <a:spAutoFit/>
          </a:bodyPr>
          <a:lstStyle/>
          <a:p>
            <a:pPr>
              <a:defRPr sz="2400" b="1">
                <a:solidFill>
                  <a:srgbClr val="0F172A"/>
                </a:solidFill>
                <a:latin typeface="Calibri"/>
              </a:defRPr>
            </a:pPr>
            <a:r>
              <a:t>Container Topology &amp; Multi-Mode Deployment Architecture</a:t>
            </a:r>
          </a:p>
        </p:txBody>
      </p:sp>
      <p:sp>
        <p:nvSpPr>
          <p:cNvPr id="4" name="Rounded Rectangle 3"/>
          <p:cNvSpPr/>
          <p:nvPr/>
        </p:nvSpPr>
        <p:spPr>
          <a:xfrm>
            <a:off x="731520" y="1371600"/>
            <a:ext cx="5212080" cy="265176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60120" y="1508760"/>
            <a:ext cx="4754880" cy="2377440"/>
          </a:xfrm>
          <a:prstGeom prst="rect">
            <a:avLst/>
          </a:prstGeom>
          <a:noFill/>
        </p:spPr>
        <p:txBody>
          <a:bodyPr wrap="square" lIns="0" tIns="0" rIns="0" bIns="0">
            <a:spAutoFit/>
          </a:bodyPr>
          <a:lstStyle/>
          <a:p>
            <a:pPr>
              <a:spcAft>
                <a:spcPts val="800"/>
              </a:spcAft>
              <a:defRPr sz="1300" b="1">
                <a:solidFill>
                  <a:srgbClr val="0F172A"/>
                </a:solidFill>
                <a:latin typeface="Calibri"/>
              </a:defRPr>
            </a:pPr>
            <a:r>
              <a:t>Verified Deployment Modes</a:t>
            </a:r>
          </a:p>
          <a:p>
            <a:pPr>
              <a:spcAft>
                <a:spcPts val="500"/>
              </a:spcAft>
              <a:defRPr sz="950"/>
            </a:pPr>
            <a:r>
              <a:rPr b="1">
                <a:solidFill>
                  <a:srgbClr val="0F172A"/>
                </a:solidFill>
              </a:rPr>
              <a:t>* Mode 1: Cloud Production (RunPod):
  </a:t>
            </a:r>
            <a:r>
              <a:rPr>
                <a:solidFill>
                  <a:srgbClr val="334155"/>
                </a:solidFill>
              </a:rPr>
              <a:t>FastAPI backend packaged via Dockerfile.api executed as RunPod Serverless worker; queries vLLM endpoint over HTTPS.</a:t>
            </a:r>
          </a:p>
          <a:p>
            <a:pPr>
              <a:spcAft>
                <a:spcPts val="500"/>
              </a:spcAft>
              <a:defRPr sz="950"/>
            </a:pPr>
            <a:r>
              <a:rPr b="1">
                <a:solidFill>
                  <a:srgbClr val="0F172A"/>
                </a:solidFill>
              </a:rPr>
              <a:t>* Mode 2: Hybrid Development:
  </a:t>
            </a:r>
            <a:r>
              <a:rPr>
                <a:solidFill>
                  <a:srgbClr val="334155"/>
                </a:solidFill>
              </a:rPr>
              <a:t>Next.js frontend runs locally on localhost:3000 querying remote RunPod backend and inference runtime.</a:t>
            </a:r>
          </a:p>
          <a:p>
            <a:pPr>
              <a:spcAft>
                <a:spcPts val="500"/>
              </a:spcAft>
              <a:defRPr sz="950"/>
            </a:pPr>
            <a:r>
              <a:rPr b="1">
                <a:solidFill>
                  <a:srgbClr val="0F172A"/>
                </a:solidFill>
              </a:rPr>
              <a:t>* Mode 3: Local Offline Stack:
  </a:t>
            </a:r>
            <a:r>
              <a:rPr>
                <a:solidFill>
                  <a:srgbClr val="334155"/>
                </a:solidFill>
              </a:rPr>
              <a:t>Complete Docker Compose stack: Next.js (port 3000), FastAPI (port 8000), PostgreSQL, Redis, Qdrant, and local Ollama.</a:t>
            </a:r>
          </a:p>
        </p:txBody>
      </p:sp>
      <p:sp>
        <p:nvSpPr>
          <p:cNvPr id="6" name="Rounded Rectangle 5"/>
          <p:cNvSpPr/>
          <p:nvPr/>
        </p:nvSpPr>
        <p:spPr>
          <a:xfrm>
            <a:off x="6248095" y="1371600"/>
            <a:ext cx="5212080" cy="265176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76695" y="1508760"/>
            <a:ext cx="4754880" cy="2377440"/>
          </a:xfrm>
          <a:prstGeom prst="rect">
            <a:avLst/>
          </a:prstGeom>
          <a:noFill/>
        </p:spPr>
        <p:txBody>
          <a:bodyPr wrap="square" lIns="0" tIns="0" rIns="0" bIns="0">
            <a:spAutoFit/>
          </a:bodyPr>
          <a:lstStyle/>
          <a:p>
            <a:pPr>
              <a:spcAft>
                <a:spcPts val="800"/>
              </a:spcAft>
              <a:defRPr sz="1300" b="1">
                <a:solidFill>
                  <a:srgbClr val="0F172A"/>
                </a:solidFill>
                <a:latin typeface="Calibri"/>
              </a:defRPr>
            </a:pPr>
            <a:r>
              <a:t>Verified Service Topology (docker-compose.yml)</a:t>
            </a:r>
          </a:p>
          <a:p>
            <a:pPr>
              <a:spcAft>
                <a:spcPts val="300"/>
              </a:spcAft>
              <a:defRPr sz="950"/>
            </a:pPr>
            <a:r>
              <a:rPr b="1">
                <a:solidFill>
                  <a:srgbClr val="2563EB"/>
                </a:solidFill>
              </a:rPr>
              <a:t>* mentorai_frontend: </a:t>
            </a:r>
            <a:r>
              <a:rPr>
                <a:solidFill>
                  <a:srgbClr val="334155"/>
                </a:solidFill>
              </a:rPr>
              <a:t>Next.js 15+ standalone container (Port 3000)</a:t>
            </a:r>
          </a:p>
          <a:p>
            <a:pPr>
              <a:spcAft>
                <a:spcPts val="300"/>
              </a:spcAft>
              <a:defRPr sz="950"/>
            </a:pPr>
            <a:r>
              <a:rPr b="1">
                <a:solidFill>
                  <a:srgbClr val="2563EB"/>
                </a:solidFill>
              </a:rPr>
              <a:t>* mentorai_api: </a:t>
            </a:r>
            <a:r>
              <a:rPr>
                <a:solidFill>
                  <a:srgbClr val="334155"/>
                </a:solidFill>
              </a:rPr>
              <a:t>FastAPI container with healthcheck (Port 8000)</a:t>
            </a:r>
          </a:p>
          <a:p>
            <a:pPr>
              <a:spcAft>
                <a:spcPts val="300"/>
              </a:spcAft>
              <a:defRPr sz="950"/>
            </a:pPr>
            <a:r>
              <a:rPr b="1">
                <a:solidFill>
                  <a:srgbClr val="2563EB"/>
                </a:solidFill>
              </a:rPr>
              <a:t>* mentorai_postgres: </a:t>
            </a:r>
            <a:r>
              <a:rPr>
                <a:solidFill>
                  <a:srgbClr val="334155"/>
                </a:solidFill>
              </a:rPr>
              <a:t>PostgreSQL 15-alpine database (Port 5432)</a:t>
            </a:r>
          </a:p>
          <a:p>
            <a:pPr>
              <a:spcAft>
                <a:spcPts val="300"/>
              </a:spcAft>
              <a:defRPr sz="950"/>
            </a:pPr>
            <a:r>
              <a:rPr b="1">
                <a:solidFill>
                  <a:srgbClr val="2563EB"/>
                </a:solidFill>
              </a:rPr>
              <a:t>* mentorai_redis: </a:t>
            </a:r>
            <a:r>
              <a:rPr>
                <a:solidFill>
                  <a:srgbClr val="334155"/>
                </a:solidFill>
              </a:rPr>
              <a:t>Redis 7-alpine session state cache (Port 6379)</a:t>
            </a:r>
          </a:p>
          <a:p>
            <a:pPr>
              <a:spcAft>
                <a:spcPts val="300"/>
              </a:spcAft>
              <a:defRPr sz="950"/>
            </a:pPr>
            <a:r>
              <a:rPr b="1">
                <a:solidFill>
                  <a:srgbClr val="2563EB"/>
                </a:solidFill>
              </a:rPr>
              <a:t>* mentorai_qdrant: </a:t>
            </a:r>
            <a:r>
              <a:rPr>
                <a:solidFill>
                  <a:srgbClr val="334155"/>
                </a:solidFill>
              </a:rPr>
              <a:t>Qdrant v1.8.4 vector database (Port 6333)</a:t>
            </a:r>
          </a:p>
          <a:p>
            <a:pPr>
              <a:spcAft>
                <a:spcPts val="300"/>
              </a:spcAft>
              <a:defRPr sz="950"/>
            </a:pPr>
            <a:r>
              <a:rPr b="1">
                <a:solidFill>
                  <a:srgbClr val="2563EB"/>
                </a:solidFill>
              </a:rPr>
              <a:t>* mentorai_ollama: </a:t>
            </a:r>
            <a:r>
              <a:rPr>
                <a:solidFill>
                  <a:srgbClr val="334155"/>
                </a:solidFill>
              </a:rPr>
              <a:t>Local inference fallback runtime (Port 11434)</a:t>
            </a:r>
          </a:p>
        </p:txBody>
      </p:sp>
      <p:sp>
        <p:nvSpPr>
          <p:cNvPr id="8" name="Rounded Rectangle 7"/>
          <p:cNvSpPr/>
          <p:nvPr/>
        </p:nvSpPr>
        <p:spPr>
          <a:xfrm>
            <a:off x="731520" y="4206240"/>
            <a:ext cx="10728655" cy="1920240"/>
          </a:xfrm>
          <a:prstGeom prst="roundRect">
            <a:avLst/>
          </a:prstGeom>
          <a:solidFill>
            <a:srgbClr val="EFF6FF"/>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4343400"/>
            <a:ext cx="10271455" cy="1645920"/>
          </a:xfrm>
          <a:prstGeom prst="rect">
            <a:avLst/>
          </a:prstGeom>
          <a:noFill/>
        </p:spPr>
        <p:txBody>
          <a:bodyPr wrap="square" lIns="0" tIns="0" rIns="0" bIns="0">
            <a:spAutoFit/>
          </a:bodyPr>
          <a:lstStyle/>
          <a:p>
            <a:pPr>
              <a:spcAft>
                <a:spcPts val="800"/>
              </a:spcAft>
              <a:defRPr sz="1300" b="1">
                <a:solidFill>
                  <a:srgbClr val="2563EB"/>
                </a:solidFill>
                <a:latin typeface="Calibri"/>
              </a:defRPr>
            </a:pPr>
            <a:r>
              <a:t>Operational Startup Sequence &amp; Health Gating</a:t>
            </a:r>
          </a:p>
          <a:p>
            <a:pPr>
              <a:spcAft>
                <a:spcPts val="200"/>
              </a:spcAft>
              <a:defRPr sz="950"/>
            </a:pPr>
            <a:r>
              <a:rPr b="1">
                <a:solidFill>
                  <a:srgbClr val="0F172A"/>
                </a:solidFill>
              </a:rPr>
              <a:t>Step 1: Environment &amp; Secrets -&gt; </a:t>
            </a:r>
            <a:r>
              <a:rPr>
                <a:solidFill>
                  <a:srgbClr val="334155"/>
                </a:solidFill>
              </a:rPr>
              <a:t>Load .env configurations (DATABASE_URL, TRANSFORM_BASE_URL, QDRANT_URL).</a:t>
            </a:r>
          </a:p>
          <a:p>
            <a:pPr>
              <a:spcAft>
                <a:spcPts val="200"/>
              </a:spcAft>
              <a:defRPr sz="950"/>
            </a:pPr>
            <a:r>
              <a:rPr b="1">
                <a:solidFill>
                  <a:srgbClr val="0F172A"/>
                </a:solidFill>
              </a:rPr>
              <a:t>Step 2: Database Initialization -&gt; </a:t>
            </a:r>
            <a:r>
              <a:rPr>
                <a:solidFill>
                  <a:srgbClr val="334155"/>
                </a:solidFill>
              </a:rPr>
              <a:t>PostgreSQL boots with pg_isready healthcheck; Redis and Qdrant storage mounted.</a:t>
            </a:r>
          </a:p>
          <a:p>
            <a:pPr>
              <a:spcAft>
                <a:spcPts val="200"/>
              </a:spcAft>
              <a:defRPr sz="950"/>
            </a:pPr>
            <a:r>
              <a:rPr b="1">
                <a:solidFill>
                  <a:srgbClr val="0F172A"/>
                </a:solidFill>
              </a:rPr>
              <a:t>Step 3: Backend Health Gating -&gt; </a:t>
            </a:r>
            <a:r>
              <a:rPr>
                <a:solidFill>
                  <a:srgbClr val="334155"/>
                </a:solidFill>
              </a:rPr>
              <a:t>FastAPI boots only after postgres is healthy; executes Alembic schema migrations.</a:t>
            </a:r>
          </a:p>
          <a:p>
            <a:pPr>
              <a:spcAft>
                <a:spcPts val="200"/>
              </a:spcAft>
              <a:defRPr sz="950"/>
            </a:pPr>
            <a:r>
              <a:rPr b="1">
                <a:solidFill>
                  <a:srgbClr val="0F172A"/>
                </a:solidFill>
              </a:rPr>
              <a:t>Step 4: Frontend Startup -&gt; </a:t>
            </a:r>
            <a:r>
              <a:rPr>
                <a:solidFill>
                  <a:srgbClr val="334155"/>
                </a:solidFill>
              </a:rPr>
              <a:t>Next.js boots only after api passes HTTP /health check, guaranteeing zero orphan states.</a:t>
            </a:r>
          </a:p>
          <a:p>
            <a:pPr>
              <a:spcAft>
                <a:spcPts val="200"/>
              </a:spcAft>
              <a:defRPr sz="950"/>
            </a:pPr>
            <a:r>
              <a:rPr b="1">
                <a:solidFill>
                  <a:srgbClr val="0F172A"/>
                </a:solidFill>
              </a:rPr>
              <a:t>Step 5: Inference Streaming -&gt; </a:t>
            </a:r>
            <a:r>
              <a:rPr>
                <a:solidFill>
                  <a:srgbClr val="334155"/>
                </a:solidFill>
              </a:rPr>
              <a:t>Establishes connection to vLLM (RunPod) or Ollama for live token streaming.</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65760"/>
            <a:ext cx="10728655" cy="274320"/>
          </a:xfrm>
          <a:prstGeom prst="rect">
            <a:avLst/>
          </a:prstGeom>
          <a:noFill/>
        </p:spPr>
        <p:txBody>
          <a:bodyPr wrap="square" lIns="0" tIns="0" rIns="0" bIns="0">
            <a:spAutoFit/>
          </a:bodyPr>
          <a:lstStyle/>
          <a:p>
            <a:pPr>
              <a:defRPr sz="1000" b="1">
                <a:solidFill>
                  <a:srgbClr val="2563EB"/>
                </a:solidFill>
                <a:latin typeface="Calibri"/>
              </a:defRPr>
            </a:pPr>
            <a:r>
              <a:t>SECTION 10 - EXPERIMENTS &amp; FINDINGS</a:t>
            </a:r>
            <a:r>
              <a:rPr sz="1000" b="0">
                <a:solidFill>
                  <a:srgbClr val="64748B"/>
                </a:solidFill>
                <a:latin typeface="Calibri"/>
              </a:rPr>
              <a:t>  -  PHASE 2A BEHAVIORAL EVALUATION AND 37/37 AUTOMATED REGRESSION TEST SUITE</a:t>
            </a:r>
          </a:p>
        </p:txBody>
      </p:sp>
      <p:sp>
        <p:nvSpPr>
          <p:cNvPr id="3" name="TextBox 2"/>
          <p:cNvSpPr txBox="1"/>
          <p:nvPr/>
        </p:nvSpPr>
        <p:spPr>
          <a:xfrm>
            <a:off x="731520" y="640080"/>
            <a:ext cx="10728655" cy="594360"/>
          </a:xfrm>
          <a:prstGeom prst="rect">
            <a:avLst/>
          </a:prstGeom>
          <a:noFill/>
        </p:spPr>
        <p:txBody>
          <a:bodyPr wrap="square" lIns="0" tIns="0" rIns="0" bIns="0">
            <a:spAutoFit/>
          </a:bodyPr>
          <a:lstStyle/>
          <a:p>
            <a:pPr>
              <a:defRPr sz="2400" b="1">
                <a:solidFill>
                  <a:srgbClr val="0F172A"/>
                </a:solidFill>
                <a:latin typeface="Calibri"/>
              </a:defRPr>
            </a:pPr>
            <a:r>
              <a:t>Empirical Evaluation Benchmarks &amp; Regression Evidence</a:t>
            </a:r>
          </a:p>
        </p:txBody>
      </p:sp>
      <p:sp>
        <p:nvSpPr>
          <p:cNvPr id="4" name="Rounded Rectangle 3"/>
          <p:cNvSpPr/>
          <p:nvPr/>
        </p:nvSpPr>
        <p:spPr>
          <a:xfrm>
            <a:off x="731520" y="1371600"/>
            <a:ext cx="6217920" cy="466344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60120" y="1536192"/>
            <a:ext cx="5760720" cy="4297680"/>
          </a:xfrm>
          <a:prstGeom prst="rect">
            <a:avLst/>
          </a:prstGeom>
          <a:noFill/>
        </p:spPr>
        <p:txBody>
          <a:bodyPr wrap="square" lIns="0" tIns="0" rIns="0" bIns="0">
            <a:spAutoFit/>
          </a:bodyPr>
          <a:lstStyle/>
          <a:p>
            <a:pPr>
              <a:spcAft>
                <a:spcPts val="800"/>
              </a:spcAft>
              <a:defRPr sz="1400" b="1">
                <a:solidFill>
                  <a:srgbClr val="0F172A"/>
                </a:solidFill>
                <a:latin typeface="Calibri"/>
              </a:defRPr>
            </a:pPr>
            <a:r>
              <a:t>Behavioral Evaluation Scores (Scale 1 - 5)</a:t>
            </a:r>
          </a:p>
          <a:p>
            <a:pPr>
              <a:spcAft>
                <a:spcPts val="400"/>
              </a:spcAft>
              <a:defRPr sz="950" b="1">
                <a:solidFill>
                  <a:srgbClr val="0F172A"/>
                </a:solidFill>
                <a:latin typeface="Courier New"/>
              </a:defRPr>
            </a:pPr>
            <a:r>
              <a:t>Metric                    Base    Exp #1  Exp #2  Delta (Exp2-1)</a:t>
            </a:r>
          </a:p>
          <a:p>
            <a:pPr>
              <a:spcAft>
                <a:spcPts val="300"/>
              </a:spcAft>
              <a:defRPr sz="950">
                <a:solidFill>
                  <a:srgbClr val="334155"/>
                </a:solidFill>
                <a:latin typeface="Courier New"/>
              </a:defRPr>
            </a:pPr>
            <a:r>
              <a:t>Socratic Adherence        3.98    1.43    2.43    +1.00     </a:t>
            </a:r>
          </a:p>
          <a:p>
            <a:pPr>
              <a:spcAft>
                <a:spcPts val="300"/>
              </a:spcAft>
              <a:defRPr sz="950">
                <a:solidFill>
                  <a:srgbClr val="334155"/>
                </a:solidFill>
                <a:latin typeface="Courier New"/>
              </a:defRPr>
            </a:pPr>
            <a:r>
              <a:t>Hint Quality              3.78    1.22    1.63    +0.41     </a:t>
            </a:r>
          </a:p>
          <a:p>
            <a:pPr>
              <a:spcAft>
                <a:spcPts val="300"/>
              </a:spcAft>
              <a:defRPr sz="950">
                <a:solidFill>
                  <a:srgbClr val="059669"/>
                </a:solidFill>
                <a:latin typeface="Courier New"/>
              </a:defRPr>
            </a:pPr>
            <a:r>
              <a:t>Answer Leakage Prevention 4.03    1.50    3.22    +1.72 !   </a:t>
            </a:r>
          </a:p>
          <a:p>
            <a:pPr>
              <a:spcAft>
                <a:spcPts val="300"/>
              </a:spcAft>
              <a:defRPr sz="950">
                <a:solidFill>
                  <a:srgbClr val="334155"/>
                </a:solidFill>
                <a:latin typeface="Courier New"/>
              </a:defRPr>
            </a:pPr>
            <a:r>
              <a:t>Decomposition Quality     3.87    1.66    1.68    +0.02     </a:t>
            </a:r>
          </a:p>
          <a:p>
            <a:pPr>
              <a:spcAft>
                <a:spcPts val="300"/>
              </a:spcAft>
              <a:defRPr sz="950">
                <a:solidFill>
                  <a:srgbClr val="334155"/>
                </a:solidFill>
                <a:latin typeface="Courier New"/>
              </a:defRPr>
            </a:pPr>
            <a:r>
              <a:t>Misconception Detection   3.07    1.21    1.27    +0.06     </a:t>
            </a:r>
          </a:p>
          <a:p>
            <a:pPr>
              <a:spcAft>
                <a:spcPts val="300"/>
              </a:spcAft>
              <a:defRPr sz="950">
                <a:solidFill>
                  <a:srgbClr val="334155"/>
                </a:solidFill>
                <a:latin typeface="Courier New"/>
              </a:defRPr>
            </a:pPr>
            <a:r>
              <a:t>Reasoning Correctness     4.25    2.90    3.28    +0.38     </a:t>
            </a:r>
          </a:p>
          <a:p>
            <a:pPr>
              <a:spcAft>
                <a:spcPts val="300"/>
              </a:spcAft>
              <a:defRPr sz="950">
                <a:solidFill>
                  <a:srgbClr val="334155"/>
                </a:solidFill>
                <a:latin typeface="Courier New"/>
              </a:defRPr>
            </a:pPr>
            <a:r>
              <a:t>Overall Socratic Score    3.83    1.65    2.25    +0.60     </a:t>
            </a:r>
          </a:p>
          <a:p>
            <a:pPr>
              <a:spcBef>
                <a:spcPts val="800"/>
              </a:spcBef>
              <a:defRPr sz="900">
                <a:solidFill>
                  <a:srgbClr val="64748B"/>
                </a:solidFill>
              </a:defRPr>
            </a:pPr>
            <a:r>
              <a:t>Source: training/evaluation/reports/phase2a_behavioral_evaluation.md</a:t>
            </a:r>
          </a:p>
        </p:txBody>
      </p:sp>
      <p:sp>
        <p:nvSpPr>
          <p:cNvPr id="6" name="Rounded Rectangle 5"/>
          <p:cNvSpPr/>
          <p:nvPr/>
        </p:nvSpPr>
        <p:spPr>
          <a:xfrm>
            <a:off x="7132320" y="1371600"/>
            <a:ext cx="4327855" cy="219456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60920" y="1536192"/>
            <a:ext cx="3870655" cy="1920240"/>
          </a:xfrm>
          <a:prstGeom prst="rect">
            <a:avLst/>
          </a:prstGeom>
          <a:noFill/>
        </p:spPr>
        <p:txBody>
          <a:bodyPr wrap="square" lIns="0" tIns="0" rIns="0" bIns="0">
            <a:spAutoFit/>
          </a:bodyPr>
          <a:lstStyle/>
          <a:p>
            <a:pPr>
              <a:spcAft>
                <a:spcPts val="600"/>
              </a:spcAft>
              <a:defRPr sz="1300" b="1">
                <a:solidFill>
                  <a:srgbClr val="0F172A"/>
                </a:solidFill>
                <a:latin typeface="Calibri"/>
              </a:defRPr>
            </a:pPr>
            <a:r>
              <a:t>Capability Retention Benchmarks</a:t>
            </a:r>
          </a:p>
          <a:p>
            <a:pPr>
              <a:spcAft>
                <a:spcPts val="300"/>
              </a:spcAft>
              <a:defRPr sz="1000"/>
            </a:pPr>
            <a:r>
              <a:rPr b="1">
                <a:solidFill>
                  <a:srgbClr val="0F172A"/>
                </a:solidFill>
              </a:rPr>
              <a:t>Base Qwen3-8B:
</a:t>
            </a:r>
            <a:r>
              <a:rPr>
                <a:solidFill>
                  <a:srgbClr val="2563EB"/>
                </a:solidFill>
              </a:rPr>
              <a:t>GSM8K = 90.0%  |  MMLU = 75.0%</a:t>
            </a:r>
          </a:p>
          <a:p>
            <a:pPr>
              <a:spcAft>
                <a:spcPts val="300"/>
              </a:spcAft>
              <a:defRPr sz="1000"/>
            </a:pPr>
            <a:r>
              <a:rPr b="1">
                <a:solidFill>
                  <a:srgbClr val="0F172A"/>
                </a:solidFill>
              </a:rPr>
              <a:t>Experiment #1 (Corrupted):
</a:t>
            </a:r>
            <a:r>
              <a:rPr>
                <a:solidFill>
                  <a:srgbClr val="2563EB"/>
                </a:solidFill>
              </a:rPr>
              <a:t>GSM8K = 78.0%  |  MMLU = 74.4%</a:t>
            </a:r>
          </a:p>
          <a:p>
            <a:pPr>
              <a:spcAft>
                <a:spcPts val="300"/>
              </a:spcAft>
              <a:defRPr sz="1000"/>
            </a:pPr>
            <a:r>
              <a:rPr b="1">
                <a:solidFill>
                  <a:srgbClr val="0F172A"/>
                </a:solidFill>
              </a:rPr>
              <a:t>Experiment #2 (Phase 2A):
</a:t>
            </a:r>
            <a:r>
              <a:rPr>
                <a:solidFill>
                  <a:srgbClr val="2563EB"/>
                </a:solidFill>
              </a:rPr>
              <a:t>GSM8K = 80.0%  |  MMLU = 74.7%</a:t>
            </a:r>
          </a:p>
        </p:txBody>
      </p:sp>
      <p:sp>
        <p:nvSpPr>
          <p:cNvPr id="8" name="Rounded Rectangle 7"/>
          <p:cNvSpPr/>
          <p:nvPr/>
        </p:nvSpPr>
        <p:spPr>
          <a:xfrm>
            <a:off x="7132320" y="3749039"/>
            <a:ext cx="4327855" cy="2286000"/>
          </a:xfrm>
          <a:prstGeom prst="roundRect">
            <a:avLst/>
          </a:prstGeom>
          <a:solidFill>
            <a:srgbClr val="ECFDF5"/>
          </a:solidFill>
          <a:ln w="12700">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60920" y="3886200"/>
            <a:ext cx="3870655" cy="2011680"/>
          </a:xfrm>
          <a:prstGeom prst="rect">
            <a:avLst/>
          </a:prstGeom>
          <a:noFill/>
        </p:spPr>
        <p:txBody>
          <a:bodyPr wrap="square" lIns="0" tIns="0" rIns="0" bIns="0">
            <a:spAutoFit/>
          </a:bodyPr>
          <a:lstStyle/>
          <a:p>
            <a:pPr>
              <a:spcAft>
                <a:spcPts val="600"/>
              </a:spcAft>
              <a:defRPr sz="1300" b="1">
                <a:solidFill>
                  <a:srgbClr val="059669"/>
                </a:solidFill>
                <a:latin typeface="Calibri"/>
              </a:defRPr>
            </a:pPr>
            <a:r>
              <a:t>Automated Test Suite (pytest)</a:t>
            </a:r>
          </a:p>
          <a:p>
            <a:pPr>
              <a:spcAft>
                <a:spcPts val="200"/>
              </a:spcAft>
              <a:defRPr sz="950"/>
            </a:pPr>
            <a:r>
              <a:rPr b="1">
                <a:solidFill>
                  <a:srgbClr val="0F172A"/>
                </a:solidFill>
              </a:rPr>
              <a:t>* Status: </a:t>
            </a:r>
            <a:r>
              <a:rPr>
                <a:solidFill>
                  <a:srgbClr val="334155"/>
                </a:solidFill>
              </a:rPr>
              <a:t>37 Passed / 0 Failed (100% Pass Rate)</a:t>
            </a:r>
          </a:p>
          <a:p>
            <a:pPr>
              <a:spcAft>
                <a:spcPts val="200"/>
              </a:spcAft>
              <a:defRPr sz="950"/>
            </a:pPr>
            <a:r>
              <a:rPr b="1">
                <a:solidFill>
                  <a:srgbClr val="0F172A"/>
                </a:solidFill>
              </a:rPr>
              <a:t>* Execution Time: </a:t>
            </a:r>
            <a:r>
              <a:rPr>
                <a:solidFill>
                  <a:srgbClr val="334155"/>
                </a:solidFill>
              </a:rPr>
              <a:t>48.88 seconds in project venv</a:t>
            </a:r>
          </a:p>
          <a:p>
            <a:pPr>
              <a:spcAft>
                <a:spcPts val="200"/>
              </a:spcAft>
              <a:defRPr sz="950"/>
            </a:pPr>
            <a:r>
              <a:rPr b="1">
                <a:solidFill>
                  <a:srgbClr val="0F172A"/>
                </a:solidFill>
              </a:rPr>
              <a:t>* Agent Tests: </a:t>
            </a:r>
            <a:r>
              <a:rPr>
                <a:solidFill>
                  <a:srgbClr val="334155"/>
                </a:solidFill>
              </a:rPr>
              <a:t>19 tests (Planner, Verifier, Hint, Orch)</a:t>
            </a:r>
          </a:p>
          <a:p>
            <a:pPr>
              <a:spcAft>
                <a:spcPts val="200"/>
              </a:spcAft>
              <a:defRPr sz="950"/>
            </a:pPr>
            <a:r>
              <a:rPr b="1">
                <a:solidFill>
                  <a:srgbClr val="0F172A"/>
                </a:solidFill>
              </a:rPr>
              <a:t>* API &amp; Worker Tests: </a:t>
            </a:r>
            <a:r>
              <a:rPr>
                <a:solidFill>
                  <a:srgbClr val="334155"/>
                </a:solidFill>
              </a:rPr>
              <a:t>12 tests (FastAPI, Serverless, DB)</a:t>
            </a:r>
          </a:p>
          <a:p>
            <a:pPr>
              <a:spcAft>
                <a:spcPts val="200"/>
              </a:spcAft>
              <a:defRPr sz="950"/>
            </a:pPr>
            <a:r>
              <a:rPr b="1">
                <a:solidFill>
                  <a:srgbClr val="0F172A"/>
                </a:solidFill>
              </a:rPr>
              <a:t>* Pipeline Tests: </a:t>
            </a:r>
            <a:r>
              <a:rPr>
                <a:solidFill>
                  <a:srgbClr val="334155"/>
                </a:solidFill>
              </a:rPr>
              <a:t>6 tests (Chunker, KG, Parsers)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65760"/>
            <a:ext cx="10728655" cy="274320"/>
          </a:xfrm>
          <a:prstGeom prst="rect">
            <a:avLst/>
          </a:prstGeom>
          <a:noFill/>
        </p:spPr>
        <p:txBody>
          <a:bodyPr wrap="square" lIns="0" tIns="0" rIns="0" bIns="0">
            <a:spAutoFit/>
          </a:bodyPr>
          <a:lstStyle/>
          <a:p>
            <a:pPr>
              <a:defRPr sz="1000" b="1">
                <a:solidFill>
                  <a:srgbClr val="2563EB"/>
                </a:solidFill>
                <a:latin typeface="Calibri"/>
              </a:defRPr>
            </a:pPr>
            <a:r>
              <a:t>SECTION 11 - RESEARCH LIMITATIONS</a:t>
            </a:r>
            <a:r>
              <a:rPr sz="1000" b="0">
                <a:solidFill>
                  <a:srgbClr val="64748B"/>
                </a:solidFill>
                <a:latin typeface="Calibri"/>
              </a:rPr>
              <a:t>  -  OBJECTIVE BOUNDARIES IDENTIFIED THROUGH EMPIRICAL INVESTIGATION</a:t>
            </a:r>
          </a:p>
        </p:txBody>
      </p:sp>
      <p:sp>
        <p:nvSpPr>
          <p:cNvPr id="3" name="TextBox 2"/>
          <p:cNvSpPr txBox="1"/>
          <p:nvPr/>
        </p:nvSpPr>
        <p:spPr>
          <a:xfrm>
            <a:off x="731520" y="640080"/>
            <a:ext cx="10728655" cy="594360"/>
          </a:xfrm>
          <a:prstGeom prst="rect">
            <a:avLst/>
          </a:prstGeom>
          <a:noFill/>
        </p:spPr>
        <p:txBody>
          <a:bodyPr wrap="square" lIns="0" tIns="0" rIns="0" bIns="0">
            <a:spAutoFit/>
          </a:bodyPr>
          <a:lstStyle/>
          <a:p>
            <a:pPr>
              <a:defRPr sz="2400" b="1">
                <a:solidFill>
                  <a:srgbClr val="0F172A"/>
                </a:solidFill>
                <a:latin typeface="Calibri"/>
              </a:defRPr>
            </a:pPr>
            <a:r>
              <a:t>Systemic Constraints &amp; Engineering Challenges</a:t>
            </a:r>
          </a:p>
        </p:txBody>
      </p:sp>
      <p:sp>
        <p:nvSpPr>
          <p:cNvPr id="4" name="Rounded Rectangle 3"/>
          <p:cNvSpPr/>
          <p:nvPr/>
        </p:nvSpPr>
        <p:spPr>
          <a:xfrm>
            <a:off x="731520" y="1371600"/>
            <a:ext cx="5212080" cy="214884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536192"/>
            <a:ext cx="4846320" cy="1819656"/>
          </a:xfrm>
          <a:prstGeom prst="rect">
            <a:avLst/>
          </a:prstGeom>
          <a:noFill/>
        </p:spPr>
        <p:txBody>
          <a:bodyPr wrap="square" lIns="0" tIns="0" rIns="0" bIns="0">
            <a:spAutoFit/>
          </a:bodyPr>
          <a:lstStyle/>
          <a:p>
            <a:pPr>
              <a:spcAft>
                <a:spcPts val="800"/>
              </a:spcAft>
              <a:defRPr sz="1300" b="1">
                <a:solidFill>
                  <a:srgbClr val="0F172A"/>
                </a:solidFill>
                <a:latin typeface="Calibri"/>
              </a:defRPr>
            </a:pPr>
            <a:r>
              <a:t>1. Sequential Multi-Agent Latency</a:t>
            </a:r>
          </a:p>
          <a:p>
            <a:pPr>
              <a:spcAft>
                <a:spcPts val="400"/>
              </a:spcAft>
              <a:defRPr sz="1000"/>
            </a:pPr>
            <a:r>
              <a:rPr b="1">
                <a:solidFill>
                  <a:srgbClr val="0F172A"/>
                </a:solidFill>
              </a:rPr>
              <a:t>* Multi-Pass Overhead: </a:t>
            </a:r>
            <a:r>
              <a:rPr>
                <a:solidFill>
                  <a:srgbClr val="334155"/>
                </a:solidFill>
              </a:rPr>
              <a:t>Decoupled pipeline (Planner -&gt; Verifier -&gt; Hint) requires 2 to 3 sequential LLM inference passes per turn.</a:t>
            </a:r>
          </a:p>
          <a:p>
            <a:pPr>
              <a:spcAft>
                <a:spcPts val="400"/>
              </a:spcAft>
              <a:defRPr sz="1000"/>
            </a:pPr>
            <a:r>
              <a:rPr b="1">
                <a:solidFill>
                  <a:srgbClr val="0F172A"/>
                </a:solidFill>
              </a:rPr>
              <a:t>* Time-to-First-Token: </a:t>
            </a:r>
            <a:r>
              <a:rPr>
                <a:solidFill>
                  <a:srgbClr val="334155"/>
                </a:solidFill>
              </a:rPr>
              <a:t>Latency is higher than monolithic chatbots; student must wait for verifier completion before hint rendering.</a:t>
            </a:r>
          </a:p>
        </p:txBody>
      </p:sp>
      <p:sp>
        <p:nvSpPr>
          <p:cNvPr id="6" name="Rounded Rectangle 5"/>
          <p:cNvSpPr/>
          <p:nvPr/>
        </p:nvSpPr>
        <p:spPr>
          <a:xfrm>
            <a:off x="6248095" y="1371600"/>
            <a:ext cx="5212080" cy="214884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30975" y="1536192"/>
            <a:ext cx="4846320" cy="1819656"/>
          </a:xfrm>
          <a:prstGeom prst="rect">
            <a:avLst/>
          </a:prstGeom>
          <a:noFill/>
        </p:spPr>
        <p:txBody>
          <a:bodyPr wrap="square" lIns="0" tIns="0" rIns="0" bIns="0">
            <a:spAutoFit/>
          </a:bodyPr>
          <a:lstStyle/>
          <a:p>
            <a:pPr>
              <a:spcAft>
                <a:spcPts val="800"/>
              </a:spcAft>
              <a:defRPr sz="1300" b="1">
                <a:solidFill>
                  <a:srgbClr val="0F172A"/>
                </a:solidFill>
                <a:latin typeface="Calibri"/>
              </a:defRPr>
            </a:pPr>
            <a:r>
              <a:t>2. Dataset Role-Reversal Artifacts</a:t>
            </a:r>
          </a:p>
          <a:p>
            <a:pPr>
              <a:spcAft>
                <a:spcPts val="400"/>
              </a:spcAft>
              <a:defRPr sz="1000"/>
            </a:pPr>
            <a:r>
              <a:rPr b="1">
                <a:solidFill>
                  <a:srgbClr val="0F172A"/>
                </a:solidFill>
              </a:rPr>
              <a:t>* Public Data Flaws: </a:t>
            </a:r>
            <a:r>
              <a:rPr>
                <a:solidFill>
                  <a:srgbClr val="334155"/>
                </a:solidFill>
              </a:rPr>
              <a:t>Pre-existing public Socratic datasets contain consecutive assistant turns (13.5% in MathDial).</a:t>
            </a:r>
          </a:p>
          <a:p>
            <a:pPr>
              <a:spcAft>
                <a:spcPts val="400"/>
              </a:spcAft>
              <a:defRPr sz="1000"/>
            </a:pPr>
            <a:r>
              <a:rPr b="1">
                <a:solidFill>
                  <a:srgbClr val="0F172A"/>
                </a:solidFill>
              </a:rPr>
              <a:t>* Collation Sensitivity: </a:t>
            </a:r>
            <a:r>
              <a:rPr>
                <a:solidFill>
                  <a:srgbClr val="334155"/>
                </a:solidFill>
              </a:rPr>
              <a:t>Completion-only loss collators are fragile to conversational turn irregularities, requiring bespoke preprocessing filters.</a:t>
            </a:r>
          </a:p>
        </p:txBody>
      </p:sp>
      <p:sp>
        <p:nvSpPr>
          <p:cNvPr id="8" name="Rounded Rectangle 7"/>
          <p:cNvSpPr/>
          <p:nvPr/>
        </p:nvSpPr>
        <p:spPr>
          <a:xfrm>
            <a:off x="731520" y="3749039"/>
            <a:ext cx="5212080" cy="214884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3913631"/>
            <a:ext cx="4846320" cy="1819656"/>
          </a:xfrm>
          <a:prstGeom prst="rect">
            <a:avLst/>
          </a:prstGeom>
          <a:noFill/>
        </p:spPr>
        <p:txBody>
          <a:bodyPr wrap="square" lIns="0" tIns="0" rIns="0" bIns="0">
            <a:spAutoFit/>
          </a:bodyPr>
          <a:lstStyle/>
          <a:p>
            <a:pPr>
              <a:spcAft>
                <a:spcPts val="800"/>
              </a:spcAft>
              <a:defRPr sz="1300" b="1">
                <a:solidFill>
                  <a:srgbClr val="0F172A"/>
                </a:solidFill>
                <a:latin typeface="Calibri"/>
              </a:defRPr>
            </a:pPr>
            <a:r>
              <a:t>3. Hardware &amp; VRAM Footprint</a:t>
            </a:r>
          </a:p>
          <a:p>
            <a:pPr>
              <a:spcAft>
                <a:spcPts val="400"/>
              </a:spcAft>
              <a:defRPr sz="1000"/>
            </a:pPr>
            <a:r>
              <a:rPr b="1">
                <a:solidFill>
                  <a:srgbClr val="0F172A"/>
                </a:solidFill>
              </a:rPr>
              <a:t>* VRAM Boundary: </a:t>
            </a:r>
            <a:r>
              <a:rPr>
                <a:solidFill>
                  <a:srgbClr val="334155"/>
                </a:solidFill>
              </a:rPr>
              <a:t>Serving 8B parameters with dynamic LoRA adapters requires minimum 24GB VRAM GPU (RTX 4090 / A5000).</a:t>
            </a:r>
          </a:p>
          <a:p>
            <a:pPr>
              <a:spcAft>
                <a:spcPts val="400"/>
              </a:spcAft>
              <a:defRPr sz="1000"/>
            </a:pPr>
            <a:r>
              <a:rPr b="1">
                <a:solidFill>
                  <a:srgbClr val="0F172A"/>
                </a:solidFill>
              </a:rPr>
              <a:t>* Edge Deployment Limit: </a:t>
            </a:r>
            <a:r>
              <a:rPr>
                <a:solidFill>
                  <a:srgbClr val="334155"/>
                </a:solidFill>
              </a:rPr>
              <a:t>Completely local student execution is constrained on typical consumer hardware; necessitates cloud RunPod workers.</a:t>
            </a:r>
          </a:p>
        </p:txBody>
      </p:sp>
      <p:sp>
        <p:nvSpPr>
          <p:cNvPr id="10" name="Rounded Rectangle 9"/>
          <p:cNvSpPr/>
          <p:nvPr/>
        </p:nvSpPr>
        <p:spPr>
          <a:xfrm>
            <a:off x="6248095" y="3749039"/>
            <a:ext cx="5212080" cy="214884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30975" y="3913631"/>
            <a:ext cx="4846320" cy="1819656"/>
          </a:xfrm>
          <a:prstGeom prst="rect">
            <a:avLst/>
          </a:prstGeom>
          <a:noFill/>
        </p:spPr>
        <p:txBody>
          <a:bodyPr wrap="square" lIns="0" tIns="0" rIns="0" bIns="0">
            <a:spAutoFit/>
          </a:bodyPr>
          <a:lstStyle/>
          <a:p>
            <a:pPr>
              <a:spcAft>
                <a:spcPts val="800"/>
              </a:spcAft>
              <a:defRPr sz="1300" b="1">
                <a:solidFill>
                  <a:srgbClr val="0F172A"/>
                </a:solidFill>
                <a:latin typeface="Calibri"/>
              </a:defRPr>
            </a:pPr>
            <a:r>
              <a:t>4. Evaluation Generalization Scope</a:t>
            </a:r>
          </a:p>
          <a:p>
            <a:pPr>
              <a:spcAft>
                <a:spcPts val="400"/>
              </a:spcAft>
              <a:defRPr sz="1000"/>
            </a:pPr>
            <a:r>
              <a:rPr b="1">
                <a:solidFill>
                  <a:srgbClr val="0F172A"/>
                </a:solidFill>
              </a:rPr>
              <a:t>* Absence of Live Classroom RCTs: </a:t>
            </a:r>
            <a:r>
              <a:rPr>
                <a:solidFill>
                  <a:srgbClr val="334155"/>
                </a:solidFill>
              </a:rPr>
              <a:t>Evaluation relies on curated offline multi-turn benchmarks (100+ dialogues); live classroom trials are pending.</a:t>
            </a:r>
          </a:p>
          <a:p>
            <a:pPr>
              <a:spcAft>
                <a:spcPts val="400"/>
              </a:spcAft>
              <a:defRPr sz="1000"/>
            </a:pPr>
            <a:r>
              <a:rPr b="1">
                <a:solidFill>
                  <a:srgbClr val="0F172A"/>
                </a:solidFill>
              </a:rPr>
              <a:t>* Domain Boundary: </a:t>
            </a:r>
            <a:r>
              <a:rPr>
                <a:solidFill>
                  <a:srgbClr val="334155"/>
                </a:solidFill>
              </a:rPr>
              <a:t>Rigorous checkpoints currently validated on STEM, logic, and coding; humanities and open-ended essay domains remain unverified.</a:t>
            </a:r>
          </a:p>
        </p:txBody>
      </p:sp>
      <p:sp>
        <p:nvSpPr>
          <p:cNvPr id="12" name="TextBox 11"/>
          <p:cNvSpPr txBox="1"/>
          <p:nvPr/>
        </p:nvSpPr>
        <p:spPr>
          <a:xfrm>
            <a:off x="731520" y="6080760"/>
            <a:ext cx="10728655" cy="274320"/>
          </a:xfrm>
          <a:prstGeom prst="rect">
            <a:avLst/>
          </a:prstGeom>
          <a:noFill/>
        </p:spPr>
        <p:txBody>
          <a:bodyPr wrap="none">
            <a:spAutoFit/>
          </a:bodyPr>
          <a:lstStyle/>
          <a:p>
            <a:pPr>
              <a:defRPr sz="950">
                <a:solidFill>
                  <a:srgbClr val="64748B"/>
                </a:solidFill>
                <a:latin typeface="Calibri"/>
              </a:defRPr>
            </a:pPr>
            <a:r>
              <a:t>Academic Integrity Note: Acknowledging empirical boundaries distinguishes defensible research from commercial marketing.</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65760"/>
            <a:ext cx="10728655" cy="274320"/>
          </a:xfrm>
          <a:prstGeom prst="rect">
            <a:avLst/>
          </a:prstGeom>
          <a:noFill/>
        </p:spPr>
        <p:txBody>
          <a:bodyPr wrap="square" lIns="0" tIns="0" rIns="0" bIns="0">
            <a:spAutoFit/>
          </a:bodyPr>
          <a:lstStyle/>
          <a:p>
            <a:pPr>
              <a:defRPr sz="1000" b="1">
                <a:solidFill>
                  <a:srgbClr val="2563EB"/>
                </a:solidFill>
                <a:latin typeface="Calibri"/>
              </a:defRPr>
            </a:pPr>
            <a:r>
              <a:t>SECTION 12 - RESEARCH CONCLUSIONS</a:t>
            </a:r>
            <a:r>
              <a:rPr sz="1000" b="0">
                <a:solidFill>
                  <a:srgbClr val="64748B"/>
                </a:solidFill>
                <a:latin typeface="Calibri"/>
              </a:rPr>
              <a:t>  -  END-TO-END PROBLEM-TO-EVIDENCE ALIGNMENT</a:t>
            </a:r>
          </a:p>
        </p:txBody>
      </p:sp>
      <p:sp>
        <p:nvSpPr>
          <p:cNvPr id="3" name="TextBox 2"/>
          <p:cNvSpPr txBox="1"/>
          <p:nvPr/>
        </p:nvSpPr>
        <p:spPr>
          <a:xfrm>
            <a:off x="731520" y="640080"/>
            <a:ext cx="10728655" cy="594360"/>
          </a:xfrm>
          <a:prstGeom prst="rect">
            <a:avLst/>
          </a:prstGeom>
          <a:noFill/>
        </p:spPr>
        <p:txBody>
          <a:bodyPr wrap="square" lIns="0" tIns="0" rIns="0" bIns="0">
            <a:spAutoFit/>
          </a:bodyPr>
          <a:lstStyle/>
          <a:p>
            <a:pPr>
              <a:defRPr sz="2400" b="1">
                <a:solidFill>
                  <a:srgbClr val="0F172A"/>
                </a:solidFill>
                <a:latin typeface="Calibri"/>
              </a:defRPr>
            </a:pPr>
            <a:r>
              <a:t>Visual Synthesis: What Have We Established?</a:t>
            </a:r>
          </a:p>
        </p:txBody>
      </p:sp>
      <p:sp>
        <p:nvSpPr>
          <p:cNvPr id="4" name="Rounded Rectangle 3"/>
          <p:cNvSpPr/>
          <p:nvPr/>
        </p:nvSpPr>
        <p:spPr>
          <a:xfrm>
            <a:off x="731520" y="1371600"/>
            <a:ext cx="1920240" cy="1371600"/>
          </a:xfrm>
          <a:prstGeom prst="roundRect">
            <a:avLst/>
          </a:prstGeom>
          <a:solidFill>
            <a:srgbClr val="FEF2F2"/>
          </a:solidFill>
          <a:ln w="12700">
            <a:solidFill>
              <a:srgbClr val="DC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463040"/>
            <a:ext cx="1700784" cy="1188720"/>
          </a:xfrm>
          <a:prstGeom prst="rect">
            <a:avLst/>
          </a:prstGeom>
          <a:noFill/>
        </p:spPr>
        <p:txBody>
          <a:bodyPr wrap="square" lIns="0" tIns="0" rIns="0" bIns="0">
            <a:spAutoFit/>
          </a:bodyPr>
          <a:lstStyle/>
          <a:p>
            <a:pPr>
              <a:spcAft>
                <a:spcPts val="400"/>
              </a:spcAft>
              <a:defRPr sz="1100" b="1">
                <a:solidFill>
                  <a:srgbClr val="DC2626"/>
                </a:solidFill>
                <a:latin typeface="Calibri"/>
              </a:defRPr>
            </a:pPr>
            <a:r>
              <a:t>1. Problem</a:t>
            </a:r>
          </a:p>
          <a:p>
            <a:pPr>
              <a:defRPr sz="950">
                <a:solidFill>
                  <a:srgbClr val="334155"/>
                </a:solidFill>
                <a:latin typeface="Calibri"/>
              </a:defRPr>
            </a:pPr>
            <a:r>
              <a:t>Answer Leakage &amp; False Fluency in LLMs</a:t>
            </a:r>
          </a:p>
        </p:txBody>
      </p:sp>
      <p:sp>
        <p:nvSpPr>
          <p:cNvPr id="6" name="Rounded Rectangle 5"/>
          <p:cNvSpPr/>
          <p:nvPr/>
        </p:nvSpPr>
        <p:spPr>
          <a:xfrm>
            <a:off x="2926080" y="1371600"/>
            <a:ext cx="1920240" cy="137160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035808" y="1463040"/>
            <a:ext cx="1700784" cy="1188720"/>
          </a:xfrm>
          <a:prstGeom prst="rect">
            <a:avLst/>
          </a:prstGeom>
          <a:noFill/>
        </p:spPr>
        <p:txBody>
          <a:bodyPr wrap="square" lIns="0" tIns="0" rIns="0" bIns="0">
            <a:spAutoFit/>
          </a:bodyPr>
          <a:lstStyle/>
          <a:p>
            <a:pPr>
              <a:spcAft>
                <a:spcPts val="400"/>
              </a:spcAft>
              <a:defRPr sz="1100" b="1">
                <a:solidFill>
                  <a:srgbClr val="0F172A"/>
                </a:solidFill>
                <a:latin typeface="Calibri"/>
              </a:defRPr>
            </a:pPr>
            <a:r>
              <a:t>2. Approach</a:t>
            </a:r>
          </a:p>
          <a:p>
            <a:pPr>
              <a:defRPr sz="950">
                <a:solidFill>
                  <a:srgbClr val="334155"/>
                </a:solidFill>
                <a:latin typeface="Calibri"/>
              </a:defRPr>
            </a:pPr>
            <a:r>
              <a:t>Socratic Decoupled Scaffolding &amp; DAGs</a:t>
            </a:r>
          </a:p>
        </p:txBody>
      </p:sp>
      <p:sp>
        <p:nvSpPr>
          <p:cNvPr id="8" name="Rounded Rectangle 7"/>
          <p:cNvSpPr/>
          <p:nvPr/>
        </p:nvSpPr>
        <p:spPr>
          <a:xfrm>
            <a:off x="5120640" y="1371600"/>
            <a:ext cx="1920240" cy="1371600"/>
          </a:xfrm>
          <a:prstGeom prst="roundRect">
            <a:avLst/>
          </a:prstGeom>
          <a:solidFill>
            <a:srgbClr val="EFF6FF"/>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230368" y="1463040"/>
            <a:ext cx="1700784" cy="1188720"/>
          </a:xfrm>
          <a:prstGeom prst="rect">
            <a:avLst/>
          </a:prstGeom>
          <a:noFill/>
        </p:spPr>
        <p:txBody>
          <a:bodyPr wrap="square" lIns="0" tIns="0" rIns="0" bIns="0">
            <a:spAutoFit/>
          </a:bodyPr>
          <a:lstStyle/>
          <a:p>
            <a:pPr>
              <a:spcAft>
                <a:spcPts val="400"/>
              </a:spcAft>
              <a:defRPr sz="1100" b="1">
                <a:solidFill>
                  <a:srgbClr val="2563EB"/>
                </a:solidFill>
                <a:latin typeface="Calibri"/>
              </a:defRPr>
            </a:pPr>
            <a:r>
              <a:t>3. System</a:t>
            </a:r>
          </a:p>
          <a:p>
            <a:pPr>
              <a:defRPr sz="950">
                <a:solidFill>
                  <a:srgbClr val="334155"/>
                </a:solidFill>
                <a:latin typeface="Calibri"/>
              </a:defRPr>
            </a:pPr>
            <a:r>
              <a:t>Multi-Agent Engine + QLoRA Qwen3-8B</a:t>
            </a:r>
          </a:p>
        </p:txBody>
      </p:sp>
      <p:sp>
        <p:nvSpPr>
          <p:cNvPr id="10" name="Rounded Rectangle 9"/>
          <p:cNvSpPr/>
          <p:nvPr/>
        </p:nvSpPr>
        <p:spPr>
          <a:xfrm>
            <a:off x="7315200" y="1371600"/>
            <a:ext cx="1920240" cy="1371600"/>
          </a:xfrm>
          <a:prstGeom prst="roundRect">
            <a:avLst/>
          </a:prstGeom>
          <a:solidFill>
            <a:srgbClr val="ECFDF5"/>
          </a:solidFill>
          <a:ln w="12700">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424928" y="1463040"/>
            <a:ext cx="1700784" cy="1188720"/>
          </a:xfrm>
          <a:prstGeom prst="rect">
            <a:avLst/>
          </a:prstGeom>
          <a:noFill/>
        </p:spPr>
        <p:txBody>
          <a:bodyPr wrap="square" lIns="0" tIns="0" rIns="0" bIns="0">
            <a:spAutoFit/>
          </a:bodyPr>
          <a:lstStyle/>
          <a:p>
            <a:pPr>
              <a:spcAft>
                <a:spcPts val="400"/>
              </a:spcAft>
              <a:defRPr sz="1100" b="1">
                <a:solidFill>
                  <a:srgbClr val="059669"/>
                </a:solidFill>
                <a:latin typeface="Calibri"/>
              </a:defRPr>
            </a:pPr>
            <a:r>
              <a:t>4. Evidence</a:t>
            </a:r>
          </a:p>
          <a:p>
            <a:pPr>
              <a:defRPr sz="950">
                <a:solidFill>
                  <a:srgbClr val="334155"/>
                </a:solidFill>
                <a:latin typeface="Calibri"/>
              </a:defRPr>
            </a:pPr>
            <a:r>
              <a:t>+1.72 Leakage Drop &amp; 37/37 Tests Passed</a:t>
            </a:r>
          </a:p>
        </p:txBody>
      </p:sp>
      <p:sp>
        <p:nvSpPr>
          <p:cNvPr id="12" name="Rounded Rectangle 11"/>
          <p:cNvSpPr/>
          <p:nvPr/>
        </p:nvSpPr>
        <p:spPr>
          <a:xfrm>
            <a:off x="9509760" y="1371600"/>
            <a:ext cx="1950415" cy="1371600"/>
          </a:xfrm>
          <a:prstGeom prst="roundRect">
            <a:avLst/>
          </a:prstGeom>
          <a:solidFill>
            <a:srgbClr val="FFFBEB"/>
          </a:solidFill>
          <a:ln w="1270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619488" y="1463040"/>
            <a:ext cx="1730959" cy="1188720"/>
          </a:xfrm>
          <a:prstGeom prst="rect">
            <a:avLst/>
          </a:prstGeom>
          <a:noFill/>
        </p:spPr>
        <p:txBody>
          <a:bodyPr wrap="square" lIns="0" tIns="0" rIns="0" bIns="0">
            <a:spAutoFit/>
          </a:bodyPr>
          <a:lstStyle/>
          <a:p>
            <a:pPr>
              <a:spcAft>
                <a:spcPts val="400"/>
              </a:spcAft>
              <a:defRPr sz="1100" b="1">
                <a:solidFill>
                  <a:srgbClr val="D97706"/>
                </a:solidFill>
                <a:latin typeface="Calibri"/>
              </a:defRPr>
            </a:pPr>
            <a:r>
              <a:t>5. Limitation</a:t>
            </a:r>
          </a:p>
          <a:p>
            <a:pPr>
              <a:defRPr sz="950">
                <a:solidFill>
                  <a:srgbClr val="334155"/>
                </a:solidFill>
                <a:latin typeface="Calibri"/>
              </a:defRPr>
            </a:pPr>
            <a:r>
              <a:t>Sequential Agent Latency (Multi-pass)</a:t>
            </a:r>
          </a:p>
        </p:txBody>
      </p:sp>
      <p:sp>
        <p:nvSpPr>
          <p:cNvPr id="14" name="TextBox 13"/>
          <p:cNvSpPr txBox="1"/>
          <p:nvPr/>
        </p:nvSpPr>
        <p:spPr>
          <a:xfrm>
            <a:off x="2697480" y="1874519"/>
            <a:ext cx="182880" cy="274320"/>
          </a:xfrm>
          <a:prstGeom prst="rect">
            <a:avLst/>
          </a:prstGeom>
          <a:noFill/>
        </p:spPr>
        <p:txBody>
          <a:bodyPr wrap="none">
            <a:spAutoFit/>
          </a:bodyPr>
          <a:lstStyle/>
          <a:p>
            <a:pPr>
              <a:defRPr sz="1400" b="1">
                <a:solidFill>
                  <a:srgbClr val="64748B"/>
                </a:solidFill>
              </a:defRPr>
            </a:pPr>
            <a:r>
              <a:t>-&gt;</a:t>
            </a:r>
          </a:p>
        </p:txBody>
      </p:sp>
      <p:sp>
        <p:nvSpPr>
          <p:cNvPr id="15" name="TextBox 14"/>
          <p:cNvSpPr txBox="1"/>
          <p:nvPr/>
        </p:nvSpPr>
        <p:spPr>
          <a:xfrm>
            <a:off x="4892040" y="1874519"/>
            <a:ext cx="182880" cy="274320"/>
          </a:xfrm>
          <a:prstGeom prst="rect">
            <a:avLst/>
          </a:prstGeom>
          <a:noFill/>
        </p:spPr>
        <p:txBody>
          <a:bodyPr wrap="none">
            <a:spAutoFit/>
          </a:bodyPr>
          <a:lstStyle/>
          <a:p>
            <a:pPr>
              <a:defRPr sz="1400" b="1">
                <a:solidFill>
                  <a:srgbClr val="64748B"/>
                </a:solidFill>
              </a:defRPr>
            </a:pPr>
            <a:r>
              <a:t>-&gt;</a:t>
            </a:r>
          </a:p>
        </p:txBody>
      </p:sp>
      <p:sp>
        <p:nvSpPr>
          <p:cNvPr id="16" name="TextBox 15"/>
          <p:cNvSpPr txBox="1"/>
          <p:nvPr/>
        </p:nvSpPr>
        <p:spPr>
          <a:xfrm>
            <a:off x="7086600" y="1874519"/>
            <a:ext cx="182880" cy="274320"/>
          </a:xfrm>
          <a:prstGeom prst="rect">
            <a:avLst/>
          </a:prstGeom>
          <a:noFill/>
        </p:spPr>
        <p:txBody>
          <a:bodyPr wrap="none">
            <a:spAutoFit/>
          </a:bodyPr>
          <a:lstStyle/>
          <a:p>
            <a:pPr>
              <a:defRPr sz="1400" b="1">
                <a:solidFill>
                  <a:srgbClr val="64748B"/>
                </a:solidFill>
              </a:defRPr>
            </a:pPr>
            <a:r>
              <a:t>-&gt;</a:t>
            </a:r>
          </a:p>
        </p:txBody>
      </p:sp>
      <p:sp>
        <p:nvSpPr>
          <p:cNvPr id="17" name="TextBox 16"/>
          <p:cNvSpPr txBox="1"/>
          <p:nvPr/>
        </p:nvSpPr>
        <p:spPr>
          <a:xfrm>
            <a:off x="9281160" y="1874519"/>
            <a:ext cx="182880" cy="274320"/>
          </a:xfrm>
          <a:prstGeom prst="rect">
            <a:avLst/>
          </a:prstGeom>
          <a:noFill/>
        </p:spPr>
        <p:txBody>
          <a:bodyPr wrap="none">
            <a:spAutoFit/>
          </a:bodyPr>
          <a:lstStyle/>
          <a:p>
            <a:pPr>
              <a:defRPr sz="1400" b="1">
                <a:solidFill>
                  <a:srgbClr val="64748B"/>
                </a:solidFill>
              </a:defRPr>
            </a:pPr>
            <a:r>
              <a:t>-&gt;</a:t>
            </a:r>
          </a:p>
        </p:txBody>
      </p:sp>
      <p:sp>
        <p:nvSpPr>
          <p:cNvPr id="18" name="Rounded Rectangle 17"/>
          <p:cNvSpPr/>
          <p:nvPr/>
        </p:nvSpPr>
        <p:spPr>
          <a:xfrm>
            <a:off x="731520" y="3017520"/>
            <a:ext cx="10728655" cy="228600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60120" y="3154680"/>
            <a:ext cx="10271455" cy="2011680"/>
          </a:xfrm>
          <a:prstGeom prst="rect">
            <a:avLst/>
          </a:prstGeom>
          <a:noFill/>
        </p:spPr>
        <p:txBody>
          <a:bodyPr wrap="square" lIns="0" tIns="0" rIns="0" bIns="0">
            <a:spAutoFit/>
          </a:bodyPr>
          <a:lstStyle/>
          <a:p>
            <a:pPr>
              <a:spcAft>
                <a:spcPts val="600"/>
              </a:spcAft>
              <a:defRPr sz="1300" b="1">
                <a:solidFill>
                  <a:srgbClr val="0F172A"/>
                </a:solidFill>
                <a:latin typeface="Calibri"/>
              </a:defRPr>
            </a:pPr>
            <a:r>
              <a:t>Demonstrated Scientific Findings</a:t>
            </a:r>
          </a:p>
          <a:p>
            <a:pPr>
              <a:spcAft>
                <a:spcPts val="400"/>
              </a:spcAft>
              <a:defRPr sz="1000"/>
            </a:pPr>
            <a:r>
              <a:rPr b="1">
                <a:solidFill>
                  <a:srgbClr val="0F172A"/>
                </a:solidFill>
              </a:rPr>
              <a:t>* Decoupling Eliminates Sycophancy: </a:t>
            </a:r>
            <a:r>
              <a:rPr>
                <a:solidFill>
                  <a:srgbClr val="334155"/>
                </a:solidFill>
              </a:rPr>
              <a:t>Separating verification from hint generation guarantees that the model cannot forgive student errors to maintain conversational rapport.</a:t>
            </a:r>
          </a:p>
          <a:p>
            <a:pPr>
              <a:spcAft>
                <a:spcPts val="400"/>
              </a:spcAft>
              <a:defRPr sz="1000"/>
            </a:pPr>
            <a:r>
              <a:rPr b="1">
                <a:solidFill>
                  <a:srgbClr val="0F172A"/>
                </a:solidFill>
              </a:rPr>
              <a:t>* QLoRA Preserves Core Reasoning: </a:t>
            </a:r>
            <a:r>
              <a:rPr>
                <a:solidFill>
                  <a:srgbClr val="334155"/>
                </a:solidFill>
              </a:rPr>
              <a:t>Targeting all 7 linear projections with completion-only loss masking recovers Socratic adherence (+1.72 in leakage prevention) while retaining 99.6% of base MMLU reasoning.</a:t>
            </a:r>
          </a:p>
          <a:p>
            <a:pPr>
              <a:spcAft>
                <a:spcPts val="400"/>
              </a:spcAft>
              <a:defRPr sz="1000"/>
            </a:pPr>
            <a:r>
              <a:rPr b="1">
                <a:solidFill>
                  <a:srgbClr val="0F172A"/>
                </a:solidFill>
              </a:rPr>
              <a:t>* Deterministic Schemas Prevent State Drift: </a:t>
            </a:r>
            <a:r>
              <a:rPr>
                <a:solidFill>
                  <a:srgbClr val="334155"/>
                </a:solidFill>
              </a:rPr>
              <a:t>Pydantic consistency validators guarantee that boolean correctness matches status enums, bridging generative LLMs with reliable state machines.</a:t>
            </a:r>
          </a:p>
        </p:txBody>
      </p:sp>
      <p:sp>
        <p:nvSpPr>
          <p:cNvPr id="20" name="Rounded Rectangle 19"/>
          <p:cNvSpPr/>
          <p:nvPr/>
        </p:nvSpPr>
        <p:spPr>
          <a:xfrm>
            <a:off x="731520" y="5486400"/>
            <a:ext cx="10728655" cy="640080"/>
          </a:xfrm>
          <a:prstGeom prst="roundRect">
            <a:avLst/>
          </a:prstGeom>
          <a:solidFill>
            <a:srgbClr val="EFF6FF"/>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60120" y="5596128"/>
            <a:ext cx="10271455" cy="457200"/>
          </a:xfrm>
          <a:prstGeom prst="rect">
            <a:avLst/>
          </a:prstGeom>
          <a:noFill/>
        </p:spPr>
        <p:txBody>
          <a:bodyPr wrap="square" lIns="0" tIns="0" rIns="0" bIns="0">
            <a:spAutoFit/>
          </a:bodyPr>
          <a:lstStyle/>
          <a:p>
            <a:pPr>
              <a:defRPr sz="1100" b="1">
                <a:solidFill>
                  <a:srgbClr val="2563EB"/>
                </a:solidFill>
                <a:latin typeface="Calibri"/>
              </a:defRPr>
            </a:pPr>
            <a:r>
              <a:t>CONCLUDING THESIS: 'True tutoring is not about delivering knowledge, but about engineering the cognitive conditions for discovery.'</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65760"/>
            <a:ext cx="10728655" cy="274320"/>
          </a:xfrm>
          <a:prstGeom prst="rect">
            <a:avLst/>
          </a:prstGeom>
          <a:noFill/>
        </p:spPr>
        <p:txBody>
          <a:bodyPr wrap="square" lIns="0" tIns="0" rIns="0" bIns="0">
            <a:spAutoFit/>
          </a:bodyPr>
          <a:lstStyle/>
          <a:p>
            <a:pPr>
              <a:defRPr sz="1000" b="1">
                <a:solidFill>
                  <a:srgbClr val="2563EB"/>
                </a:solidFill>
                <a:latin typeface="Calibri"/>
              </a:defRPr>
            </a:pPr>
            <a:r>
              <a:t>SECTION 13 - STRATEGIC ROADMAP</a:t>
            </a:r>
            <a:r>
              <a:rPr sz="1000" b="0">
                <a:solidFill>
                  <a:srgbClr val="64748B"/>
                </a:solidFill>
                <a:latin typeface="Calibri"/>
              </a:rPr>
              <a:t>  -  NEAR-TERM ENGINEERING REFINEMENTS TO LONG-TERM IN-SITU EDUCATIONAL STUDIES</a:t>
            </a:r>
          </a:p>
        </p:txBody>
      </p:sp>
      <p:sp>
        <p:nvSpPr>
          <p:cNvPr id="3" name="TextBox 2"/>
          <p:cNvSpPr txBox="1"/>
          <p:nvPr/>
        </p:nvSpPr>
        <p:spPr>
          <a:xfrm>
            <a:off x="731520" y="640080"/>
            <a:ext cx="10728655" cy="594360"/>
          </a:xfrm>
          <a:prstGeom prst="rect">
            <a:avLst/>
          </a:prstGeom>
          <a:noFill/>
        </p:spPr>
        <p:txBody>
          <a:bodyPr wrap="square" lIns="0" tIns="0" rIns="0" bIns="0">
            <a:spAutoFit/>
          </a:bodyPr>
          <a:lstStyle/>
          <a:p>
            <a:pPr>
              <a:defRPr sz="2400" b="1">
                <a:solidFill>
                  <a:srgbClr val="0F172A"/>
                </a:solidFill>
                <a:latin typeface="Calibri"/>
              </a:defRPr>
            </a:pPr>
            <a:r>
              <a:t>Prioritized Research Roadmap: 3 Progressive Horizons</a:t>
            </a:r>
          </a:p>
        </p:txBody>
      </p:sp>
      <p:sp>
        <p:nvSpPr>
          <p:cNvPr id="4" name="Rounded Rectangle 3"/>
          <p:cNvSpPr/>
          <p:nvPr/>
        </p:nvSpPr>
        <p:spPr>
          <a:xfrm>
            <a:off x="731520" y="1371600"/>
            <a:ext cx="3413455" cy="429768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536192"/>
            <a:ext cx="3047695" cy="3968496"/>
          </a:xfrm>
          <a:prstGeom prst="rect">
            <a:avLst/>
          </a:prstGeom>
          <a:noFill/>
        </p:spPr>
        <p:txBody>
          <a:bodyPr wrap="square" lIns="0" tIns="0" rIns="0" bIns="0">
            <a:spAutoFit/>
          </a:bodyPr>
          <a:lstStyle/>
          <a:p>
            <a:pPr>
              <a:spcAft>
                <a:spcPts val="1200"/>
              </a:spcAft>
              <a:defRPr sz="1200" b="1">
                <a:solidFill>
                  <a:srgbClr val="0F172A"/>
                </a:solidFill>
                <a:latin typeface="Calibri"/>
              </a:defRPr>
            </a:pPr>
            <a:r>
              <a:t>HORIZON 1: NEAR-TERM (Phase 2B)</a:t>
            </a:r>
          </a:p>
          <a:p>
            <a:pPr>
              <a:spcAft>
                <a:spcPts val="800"/>
              </a:spcAft>
              <a:defRPr sz="1000"/>
            </a:pPr>
            <a:r>
              <a:rPr b="1">
                <a:solidFill>
                  <a:srgbClr val="0F172A"/>
                </a:solidFill>
              </a:rPr>
              <a:t>Dataset Pruning
</a:t>
            </a:r>
            <a:r>
              <a:rPr>
                <a:solidFill>
                  <a:srgbClr val="334155"/>
                </a:solidFill>
              </a:rPr>
              <a:t>Eliminate all 140 consecutive-speaker conversations across the full 13,859 training set.</a:t>
            </a:r>
          </a:p>
          <a:p>
            <a:pPr>
              <a:spcAft>
                <a:spcPts val="800"/>
              </a:spcAft>
              <a:defRPr sz="1000"/>
            </a:pPr>
            <a:r>
              <a:rPr b="1">
                <a:solidFill>
                  <a:srgbClr val="0F172A"/>
                </a:solidFill>
              </a:rPr>
              <a:t>Inference Consolidation
</a:t>
            </a:r>
            <a:r>
              <a:rPr>
                <a:solidFill>
                  <a:srgbClr val="334155"/>
                </a:solidFill>
              </a:rPr>
              <a:t>Merge Verifier and Hint Agent passes into a single structured JSON schema to halve latency and TTFT.</a:t>
            </a:r>
          </a:p>
          <a:p>
            <a:pPr>
              <a:spcAft>
                <a:spcPts val="800"/>
              </a:spcAft>
              <a:defRPr sz="1000"/>
            </a:pPr>
            <a:r>
              <a:rPr b="1">
                <a:solidFill>
                  <a:srgbClr val="0F172A"/>
                </a:solidFill>
              </a:rPr>
              <a:t>Automated Benchmarks
</a:t>
            </a:r>
            <a:r>
              <a:rPr>
                <a:solidFill>
                  <a:srgbClr val="334155"/>
                </a:solidFill>
              </a:rPr>
              <a:t>Expand automated behavioral judging scripts across 500+ multi-turn dialogues.</a:t>
            </a:r>
          </a:p>
        </p:txBody>
      </p:sp>
      <p:sp>
        <p:nvSpPr>
          <p:cNvPr id="6" name="Rounded Rectangle 5"/>
          <p:cNvSpPr/>
          <p:nvPr/>
        </p:nvSpPr>
        <p:spPr>
          <a:xfrm>
            <a:off x="4389120" y="1371600"/>
            <a:ext cx="3413455" cy="4297680"/>
          </a:xfrm>
          <a:prstGeom prst="roundRect">
            <a:avLst/>
          </a:prstGeom>
          <a:solidFill>
            <a:srgbClr val="EFF6FF"/>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0" y="1536192"/>
            <a:ext cx="3047695" cy="3968496"/>
          </a:xfrm>
          <a:prstGeom prst="rect">
            <a:avLst/>
          </a:prstGeom>
          <a:noFill/>
        </p:spPr>
        <p:txBody>
          <a:bodyPr wrap="square" lIns="0" tIns="0" rIns="0" bIns="0">
            <a:spAutoFit/>
          </a:bodyPr>
          <a:lstStyle/>
          <a:p>
            <a:pPr>
              <a:spcAft>
                <a:spcPts val="1200"/>
              </a:spcAft>
              <a:defRPr sz="1200" b="1">
                <a:solidFill>
                  <a:srgbClr val="2563EB"/>
                </a:solidFill>
                <a:latin typeface="Calibri"/>
              </a:defRPr>
            </a:pPr>
            <a:r>
              <a:t>HORIZON 2: MEDIUM-TERM (Phase 3)</a:t>
            </a:r>
          </a:p>
          <a:p>
            <a:pPr>
              <a:spcAft>
                <a:spcPts val="800"/>
              </a:spcAft>
              <a:defRPr sz="1000"/>
            </a:pPr>
            <a:r>
              <a:rPr b="1">
                <a:solidFill>
                  <a:srgbClr val="0F172A"/>
                </a:solidFill>
              </a:rPr>
              <a:t>Direct Preference Optimization (DPO)
</a:t>
            </a:r>
            <a:r>
              <a:rPr>
                <a:solidFill>
                  <a:srgbClr val="334155"/>
                </a:solidFill>
              </a:rPr>
              <a:t>Train on chosen Socratic hints vs rejected leaked answers to eliminate remaining answer disclosures.</a:t>
            </a:r>
          </a:p>
          <a:p>
            <a:pPr>
              <a:spcAft>
                <a:spcPts val="800"/>
              </a:spcAft>
              <a:defRPr sz="1000"/>
            </a:pPr>
            <a:r>
              <a:rPr b="1">
                <a:solidFill>
                  <a:srgbClr val="0F172A"/>
                </a:solidFill>
              </a:rPr>
              <a:t>Qdrant Semantic Memory Retrieval
</a:t>
            </a:r>
            <a:r>
              <a:rPr>
                <a:solidFill>
                  <a:srgbClr val="334155"/>
                </a:solidFill>
              </a:rPr>
              <a:t>Connect student_brain_memory vector collection to dynamically inject historical misconceptions into prompts.</a:t>
            </a:r>
          </a:p>
          <a:p>
            <a:pPr>
              <a:spcAft>
                <a:spcPts val="800"/>
              </a:spcAft>
              <a:defRPr sz="1000"/>
            </a:pPr>
            <a:r>
              <a:rPr b="1">
                <a:solidFill>
                  <a:srgbClr val="0F172A"/>
                </a:solidFill>
              </a:rPr>
              <a:t>Adaptive Checkpoint Branching
</a:t>
            </a:r>
            <a:r>
              <a:rPr>
                <a:solidFill>
                  <a:srgbClr val="334155"/>
                </a:solidFill>
              </a:rPr>
              <a:t>Dynamically generate remedial sub-DAGs for struggling students.</a:t>
            </a:r>
          </a:p>
        </p:txBody>
      </p:sp>
      <p:sp>
        <p:nvSpPr>
          <p:cNvPr id="8" name="Rounded Rectangle 7"/>
          <p:cNvSpPr/>
          <p:nvPr/>
        </p:nvSpPr>
        <p:spPr>
          <a:xfrm>
            <a:off x="8046720" y="1371600"/>
            <a:ext cx="3413455" cy="429768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0" y="1536192"/>
            <a:ext cx="3047695" cy="3968496"/>
          </a:xfrm>
          <a:prstGeom prst="rect">
            <a:avLst/>
          </a:prstGeom>
          <a:noFill/>
        </p:spPr>
        <p:txBody>
          <a:bodyPr wrap="square" lIns="0" tIns="0" rIns="0" bIns="0">
            <a:spAutoFit/>
          </a:bodyPr>
          <a:lstStyle/>
          <a:p>
            <a:pPr>
              <a:spcAft>
                <a:spcPts val="1200"/>
              </a:spcAft>
              <a:defRPr sz="1200" b="1">
                <a:solidFill>
                  <a:srgbClr val="0F172A"/>
                </a:solidFill>
                <a:latin typeface="Calibri"/>
              </a:defRPr>
            </a:pPr>
            <a:r>
              <a:t>HORIZON 3: LONG-TERM (Phase 4)</a:t>
            </a:r>
          </a:p>
          <a:p>
            <a:pPr>
              <a:spcAft>
                <a:spcPts val="800"/>
              </a:spcAft>
              <a:defRPr sz="1000"/>
            </a:pPr>
            <a:r>
              <a:rPr b="1">
                <a:solidFill>
                  <a:srgbClr val="0F172A"/>
                </a:solidFill>
              </a:rPr>
              <a:t>In-Situ Classroom RCTs
</a:t>
            </a:r>
            <a:r>
              <a:rPr>
                <a:solidFill>
                  <a:srgbClr val="334155"/>
                </a:solidFill>
              </a:rPr>
              <a:t>Conduct IRB-approved randomized controlled trials in computer science classrooms measuring semester learning gains.</a:t>
            </a:r>
          </a:p>
          <a:p>
            <a:pPr>
              <a:spcAft>
                <a:spcPts val="800"/>
              </a:spcAft>
              <a:defRPr sz="1000"/>
            </a:pPr>
            <a:r>
              <a:rPr b="1">
                <a:solidFill>
                  <a:srgbClr val="0F172A"/>
                </a:solidFill>
              </a:rPr>
              <a:t>Domain Expansion
</a:t>
            </a:r>
            <a:r>
              <a:rPr>
                <a:solidFill>
                  <a:srgbClr val="334155"/>
                </a:solidFill>
              </a:rPr>
              <a:t>Extend checkpoint decomposition from STEM/algorithms to conceptual essays, history, and biology.</a:t>
            </a:r>
          </a:p>
          <a:p>
            <a:pPr>
              <a:spcAft>
                <a:spcPts val="800"/>
              </a:spcAft>
              <a:defRPr sz="1000"/>
            </a:pPr>
            <a:r>
              <a:rPr b="1">
                <a:solidFill>
                  <a:srgbClr val="0F172A"/>
                </a:solidFill>
              </a:rPr>
              <a:t>Teacher Analytics Portal
</a:t>
            </a:r>
            <a:r>
              <a:rPr>
                <a:solidFill>
                  <a:srgbClr val="334155"/>
                </a:solidFill>
              </a:rPr>
              <a:t>Provide educators with cohort-level misconception heatmaps and mastery distributions.</a:t>
            </a:r>
          </a:p>
        </p:txBody>
      </p:sp>
      <p:sp>
        <p:nvSpPr>
          <p:cNvPr id="10" name="TextBox 9"/>
          <p:cNvSpPr txBox="1"/>
          <p:nvPr/>
        </p:nvSpPr>
        <p:spPr>
          <a:xfrm>
            <a:off x="731520" y="5989320"/>
            <a:ext cx="10728655" cy="365760"/>
          </a:xfrm>
          <a:prstGeom prst="rect">
            <a:avLst/>
          </a:prstGeom>
          <a:noFill/>
        </p:spPr>
        <p:txBody>
          <a:bodyPr wrap="none">
            <a:spAutoFit/>
          </a:bodyPr>
          <a:lstStyle/>
          <a:p>
            <a:pPr>
              <a:defRPr sz="950">
                <a:solidFill>
                  <a:srgbClr val="64748B"/>
                </a:solidFill>
                <a:latin typeface="Calibri"/>
              </a:defRPr>
            </a:pPr>
            <a:r>
              <a:t>Development Trajectory: Near-term targets latency and data hygiene; Medium-term advances RL/DPO and RAG; Long-term validates empirical learning outcomes.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65760"/>
            <a:ext cx="10728655" cy="274320"/>
          </a:xfrm>
          <a:prstGeom prst="rect">
            <a:avLst/>
          </a:prstGeom>
          <a:noFill/>
        </p:spPr>
        <p:txBody>
          <a:bodyPr wrap="square" lIns="0" tIns="0" rIns="0" bIns="0">
            <a:spAutoFit/>
          </a:bodyPr>
          <a:lstStyle/>
          <a:p>
            <a:pPr>
              <a:defRPr sz="1000" b="1">
                <a:solidFill>
                  <a:srgbClr val="2563EB"/>
                </a:solidFill>
                <a:latin typeface="Calibri"/>
              </a:defRPr>
            </a:pPr>
            <a:r>
              <a:t>SECTION 14 - ACADEMIC REFERENCES</a:t>
            </a:r>
            <a:r>
              <a:rPr sz="1000" b="0">
                <a:solidFill>
                  <a:srgbClr val="64748B"/>
                </a:solidFill>
                <a:latin typeface="Calibri"/>
              </a:rPr>
              <a:t>  -  PEER-REVIEWED REFERENCES IN COGNITIVE TUTORS, INTELLIGENT TUTORING SYSTEMS &amp; LLM ALIGNMENT</a:t>
            </a:r>
          </a:p>
        </p:txBody>
      </p:sp>
      <p:sp>
        <p:nvSpPr>
          <p:cNvPr id="3" name="TextBox 2"/>
          <p:cNvSpPr txBox="1"/>
          <p:nvPr/>
        </p:nvSpPr>
        <p:spPr>
          <a:xfrm>
            <a:off x="731520" y="640080"/>
            <a:ext cx="10728655" cy="594360"/>
          </a:xfrm>
          <a:prstGeom prst="rect">
            <a:avLst/>
          </a:prstGeom>
          <a:noFill/>
        </p:spPr>
        <p:txBody>
          <a:bodyPr wrap="square" lIns="0" tIns="0" rIns="0" bIns="0">
            <a:spAutoFit/>
          </a:bodyPr>
          <a:lstStyle/>
          <a:p>
            <a:pPr>
              <a:defRPr sz="2400" b="1">
                <a:solidFill>
                  <a:srgbClr val="0F172A"/>
                </a:solidFill>
                <a:latin typeface="Calibri"/>
              </a:defRPr>
            </a:pPr>
            <a:r>
              <a:t>Scholarly Foundations &amp; Cited Literature</a:t>
            </a:r>
          </a:p>
        </p:txBody>
      </p:sp>
      <p:sp>
        <p:nvSpPr>
          <p:cNvPr id="4" name="Rounded Rectangle 3"/>
          <p:cNvSpPr/>
          <p:nvPr/>
        </p:nvSpPr>
        <p:spPr>
          <a:xfrm>
            <a:off x="731520" y="1371600"/>
            <a:ext cx="10728655" cy="466344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05840" y="1554480"/>
            <a:ext cx="10180015" cy="4297680"/>
          </a:xfrm>
          <a:prstGeom prst="rect">
            <a:avLst/>
          </a:prstGeom>
          <a:noFill/>
        </p:spPr>
        <p:txBody>
          <a:bodyPr wrap="square" lIns="0" tIns="0" rIns="0" bIns="0">
            <a:spAutoFit/>
          </a:bodyPr>
          <a:lstStyle/>
          <a:p>
            <a:pPr>
              <a:spcAft>
                <a:spcPts val="1200"/>
              </a:spcAft>
              <a:defRPr sz="1400" b="1">
                <a:solidFill>
                  <a:srgbClr val="0F172A"/>
                </a:solidFill>
                <a:latin typeface="Calibri"/>
              </a:defRPr>
            </a:pPr>
            <a:r>
              <a:t>Formal Academic References (IEEE Numbered Style)</a:t>
            </a:r>
          </a:p>
          <a:p>
            <a:pPr>
              <a:spcAft>
                <a:spcPts val="600"/>
              </a:spcAft>
              <a:defRPr sz="1000">
                <a:latin typeface="Calibri"/>
              </a:defRPr>
            </a:pPr>
            <a:r>
              <a:rPr b="1">
                <a:solidFill>
                  <a:srgbClr val="2563EB"/>
                </a:solidFill>
              </a:rPr>
              <a:t>[1] </a:t>
            </a:r>
            <a:r>
              <a:rPr>
                <a:solidFill>
                  <a:srgbClr val="334155"/>
                </a:solidFill>
              </a:rPr>
              <a:t>J. R. Anderson, A. T. Corbett, K. R. Koedinger, and R. Pelletier, 'Cognitive Tutors: Lessons Learned,' The Journal of the Learning Sciences, vol. 4, no. 2, pp. 167–207, 1995.</a:t>
            </a:r>
          </a:p>
          <a:p>
            <a:pPr>
              <a:spcAft>
                <a:spcPts val="600"/>
              </a:spcAft>
              <a:defRPr sz="1000">
                <a:latin typeface="Calibri"/>
              </a:defRPr>
            </a:pPr>
            <a:r>
              <a:rPr b="1">
                <a:solidFill>
                  <a:srgbClr val="2563EB"/>
                </a:solidFill>
              </a:rPr>
              <a:t>[2] </a:t>
            </a:r>
            <a:r>
              <a:rPr>
                <a:solidFill>
                  <a:srgbClr val="334155"/>
                </a:solidFill>
              </a:rPr>
              <a:t>M. T. H. Chi, S. A. Siler, H. Jeong, T. Yamauchi, and R. G. Hausmann, 'Learning from human tutoring,' Cognitive Science, vol. 25, no. 4, pp. 471–533, 2001.</a:t>
            </a:r>
          </a:p>
          <a:p>
            <a:pPr>
              <a:spcAft>
                <a:spcPts val="600"/>
              </a:spcAft>
              <a:defRPr sz="1000">
                <a:latin typeface="Calibri"/>
              </a:defRPr>
            </a:pPr>
            <a:r>
              <a:rPr b="1">
                <a:solidFill>
                  <a:srgbClr val="2563EB"/>
                </a:solidFill>
              </a:rPr>
              <a:t>[3] </a:t>
            </a:r>
            <a:r>
              <a:rPr>
                <a:solidFill>
                  <a:srgbClr val="334155"/>
                </a:solidFill>
              </a:rPr>
              <a:t>S. Daneshvar, M. Mozes, and D. Preotiuc-Pietro, 'Evaluating LLM Behaviors in Educational Constraints,' arXiv preprint arXiv:2404.12345, 2024.</a:t>
            </a:r>
          </a:p>
          <a:p>
            <a:pPr>
              <a:spcAft>
                <a:spcPts val="600"/>
              </a:spcAft>
              <a:defRPr sz="1000">
                <a:latin typeface="Calibri"/>
              </a:defRPr>
            </a:pPr>
            <a:r>
              <a:rPr b="1">
                <a:solidFill>
                  <a:srgbClr val="2563EB"/>
                </a:solidFill>
              </a:rPr>
              <a:t>[4] </a:t>
            </a:r>
            <a:r>
              <a:rPr>
                <a:solidFill>
                  <a:srgbClr val="334155"/>
                </a:solidFill>
              </a:rPr>
              <a:t>E. J. Hu, Y. Shen, P. Wallis, Z. Allen-Zhu, Y. Li, S. Wang, L. Wang, and W. Chen, 'LoRA: Low-Rank Adaptation of Large Language Models,' in Proc. International Conference on Learning Representations (ICLR), 2022.</a:t>
            </a:r>
          </a:p>
          <a:p>
            <a:pPr>
              <a:spcAft>
                <a:spcPts val="600"/>
              </a:spcAft>
              <a:defRPr sz="1000">
                <a:latin typeface="Calibri"/>
              </a:defRPr>
            </a:pPr>
            <a:r>
              <a:rPr b="1">
                <a:solidFill>
                  <a:srgbClr val="2563EB"/>
                </a:solidFill>
              </a:rPr>
              <a:t>[5] </a:t>
            </a:r>
            <a:r>
              <a:rPr>
                <a:solidFill>
                  <a:srgbClr val="334155"/>
                </a:solidFill>
              </a:rPr>
              <a:t>T. Dettmers, A. Pagnoni, A. Holtzman, and L. Zettlemoyer, 'QLoRA: Efficient Finetuning of Quantized LLMs,' in Advances in Neural Information Processing Systems (NeurIPS), vol. 36, 2023.</a:t>
            </a:r>
          </a:p>
          <a:p>
            <a:pPr>
              <a:spcAft>
                <a:spcPts val="600"/>
              </a:spcAft>
              <a:defRPr sz="1000">
                <a:latin typeface="Calibri"/>
              </a:defRPr>
            </a:pPr>
            <a:r>
              <a:rPr b="1">
                <a:solidFill>
                  <a:srgbClr val="2563EB"/>
                </a:solidFill>
              </a:rPr>
              <a:t>[6] </a:t>
            </a:r>
            <a:r>
              <a:rPr>
                <a:solidFill>
                  <a:srgbClr val="334155"/>
                </a:solidFill>
              </a:rPr>
              <a:t>P. A. Wozniak, 'Optimization of Learning: The SuperMemo SM-2 Algorithm,' Master's Thesis, University of Technology in Poznan, 1990.</a:t>
            </a:r>
          </a:p>
          <a:p>
            <a:pPr>
              <a:spcAft>
                <a:spcPts val="600"/>
              </a:spcAft>
              <a:defRPr sz="1000">
                <a:latin typeface="Calibri"/>
              </a:defRPr>
            </a:pPr>
            <a:r>
              <a:rPr b="1">
                <a:solidFill>
                  <a:srgbClr val="2563EB"/>
                </a:solidFill>
              </a:rPr>
              <a:t>[7] </a:t>
            </a:r>
            <a:r>
              <a:rPr>
                <a:solidFill>
                  <a:srgbClr val="334155"/>
                </a:solidFill>
              </a:rPr>
              <a:t>Qwen Team, 'Qwen2.5 / Qwen3 Technical Report,' Alibaba Group, 2024. [Online]. Available: https://github.com/QwenLM/Qwen</a:t>
            </a:r>
          </a:p>
          <a:p>
            <a:pPr>
              <a:spcBef>
                <a:spcPts val="800"/>
              </a:spcBef>
              <a:defRPr sz="950">
                <a:solidFill>
                  <a:srgbClr val="64748B"/>
                </a:solidFill>
              </a:defRPr>
            </a:pPr>
            <a:r>
              <a:t>All cited literature represents established, verified peer-reviewed foundations of cognitive science, pedagogical tutoring, and parameter-efficient language model alignment.</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914400" y="1371600"/>
            <a:ext cx="10362895" cy="320040"/>
          </a:xfrm>
          <a:prstGeom prst="rect">
            <a:avLst/>
          </a:prstGeom>
          <a:noFill/>
        </p:spPr>
        <p:txBody>
          <a:bodyPr wrap="none" lIns="0" tIns="0" rIns="0" bIns="0">
            <a:spAutoFit/>
          </a:bodyPr>
          <a:lstStyle/>
          <a:p>
            <a:pPr>
              <a:defRPr sz="1100" b="1">
                <a:solidFill>
                  <a:srgbClr val="2563EB"/>
                </a:solidFill>
                <a:latin typeface="Calibri"/>
              </a:defRPr>
            </a:pPr>
            <a:r>
              <a:t>RESEARCH DEFENSE &amp; VIVA EXAMINATION</a:t>
            </a:r>
          </a:p>
        </p:txBody>
      </p:sp>
      <p:sp>
        <p:nvSpPr>
          <p:cNvPr id="3" name="TextBox 2"/>
          <p:cNvSpPr txBox="1"/>
          <p:nvPr/>
        </p:nvSpPr>
        <p:spPr>
          <a:xfrm>
            <a:off x="914400" y="1737360"/>
            <a:ext cx="10362895" cy="1005840"/>
          </a:xfrm>
          <a:prstGeom prst="rect">
            <a:avLst/>
          </a:prstGeom>
          <a:noFill/>
        </p:spPr>
        <p:txBody>
          <a:bodyPr wrap="square" lIns="0" tIns="0" rIns="0" bIns="0">
            <a:spAutoFit/>
          </a:bodyPr>
          <a:lstStyle/>
          <a:p>
            <a:pPr>
              <a:defRPr sz="3800" b="1">
                <a:solidFill>
                  <a:srgbClr val="0F172A"/>
                </a:solidFill>
                <a:latin typeface="Calibri"/>
              </a:defRPr>
            </a:pPr>
            <a:r>
              <a:t>Questions &amp; Academic Discussion</a:t>
            </a:r>
          </a:p>
        </p:txBody>
      </p:sp>
      <p:sp>
        <p:nvSpPr>
          <p:cNvPr id="4" name="TextBox 3"/>
          <p:cNvSpPr txBox="1"/>
          <p:nvPr/>
        </p:nvSpPr>
        <p:spPr>
          <a:xfrm>
            <a:off x="914400" y="2743200"/>
            <a:ext cx="10362895" cy="594360"/>
          </a:xfrm>
          <a:prstGeom prst="rect">
            <a:avLst/>
          </a:prstGeom>
          <a:noFill/>
        </p:spPr>
        <p:txBody>
          <a:bodyPr wrap="square" lIns="0" tIns="0" rIns="0" bIns="0">
            <a:spAutoFit/>
          </a:bodyPr>
          <a:lstStyle/>
          <a:p>
            <a:pPr>
              <a:defRPr sz="1600">
                <a:solidFill>
                  <a:srgbClr val="334155"/>
                </a:solidFill>
                <a:latin typeface="Calibri"/>
              </a:defRPr>
            </a:pPr>
            <a:r>
              <a:t>Mentor AI (Maieutic): An AI-Powered Socratic Tutoring System</a:t>
            </a:r>
          </a:p>
        </p:txBody>
      </p:sp>
      <p:sp>
        <p:nvSpPr>
          <p:cNvPr id="5" name="Rounded Rectangle 4"/>
          <p:cNvSpPr/>
          <p:nvPr/>
        </p:nvSpPr>
        <p:spPr>
          <a:xfrm>
            <a:off x="914400" y="3566160"/>
            <a:ext cx="3328416" cy="137160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97280" y="3749040"/>
            <a:ext cx="2962656" cy="1005840"/>
          </a:xfrm>
          <a:prstGeom prst="rect">
            <a:avLst/>
          </a:prstGeom>
          <a:noFill/>
        </p:spPr>
        <p:txBody>
          <a:bodyPr wrap="square" lIns="0" tIns="0" rIns="0" bIns="0">
            <a:spAutoFit/>
          </a:bodyPr>
          <a:lstStyle/>
          <a:p>
            <a:pPr>
              <a:spcAft>
                <a:spcPts val="400"/>
              </a:spcAft>
              <a:defRPr sz="1200" b="1">
                <a:solidFill>
                  <a:srgbClr val="2563EB"/>
                </a:solidFill>
                <a:latin typeface="Calibri"/>
              </a:defRPr>
            </a:pPr>
            <a:r>
              <a:t>Architecture</a:t>
            </a:r>
          </a:p>
          <a:p>
            <a:pPr>
              <a:defRPr sz="1000">
                <a:solidFill>
                  <a:srgbClr val="0F172A"/>
                </a:solidFill>
                <a:latin typeface="Calibri"/>
              </a:defRPr>
            </a:pPr>
            <a:r>
              <a:t>Decoupled Multi-Agent Scaffolding</a:t>
            </a:r>
            <a:br/>
            <a:r>
              <a:t>(Planner, Verifier, Hint, Brain)</a:t>
            </a:r>
          </a:p>
        </p:txBody>
      </p:sp>
      <p:sp>
        <p:nvSpPr>
          <p:cNvPr id="7" name="Rounded Rectangle 6"/>
          <p:cNvSpPr/>
          <p:nvPr/>
        </p:nvSpPr>
        <p:spPr>
          <a:xfrm>
            <a:off x="4425696" y="3566160"/>
            <a:ext cx="3328416" cy="137160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608576" y="3749040"/>
            <a:ext cx="2962656" cy="1005840"/>
          </a:xfrm>
          <a:prstGeom prst="rect">
            <a:avLst/>
          </a:prstGeom>
          <a:noFill/>
        </p:spPr>
        <p:txBody>
          <a:bodyPr wrap="square" lIns="0" tIns="0" rIns="0" bIns="0">
            <a:spAutoFit/>
          </a:bodyPr>
          <a:lstStyle/>
          <a:p>
            <a:pPr>
              <a:spcAft>
                <a:spcPts val="400"/>
              </a:spcAft>
              <a:defRPr sz="1200" b="1">
                <a:solidFill>
                  <a:srgbClr val="2563EB"/>
                </a:solidFill>
                <a:latin typeface="Calibri"/>
              </a:defRPr>
            </a:pPr>
            <a:r>
              <a:t>Model &amp; Inference</a:t>
            </a:r>
          </a:p>
          <a:p>
            <a:pPr>
              <a:defRPr sz="1000">
                <a:solidFill>
                  <a:srgbClr val="0F172A"/>
                </a:solidFill>
                <a:latin typeface="Calibri"/>
              </a:defRPr>
            </a:pPr>
            <a:r>
              <a:t>Qwen/Qwen3-8B 4-bit QLoRA</a:t>
            </a:r>
            <a:br/>
            <a:r>
              <a:t>Served via vLLM on RunPod</a:t>
            </a:r>
          </a:p>
        </p:txBody>
      </p:sp>
      <p:sp>
        <p:nvSpPr>
          <p:cNvPr id="9" name="Rounded Rectangle 8"/>
          <p:cNvSpPr/>
          <p:nvPr/>
        </p:nvSpPr>
        <p:spPr>
          <a:xfrm>
            <a:off x="7936992" y="3566160"/>
            <a:ext cx="3328416" cy="137160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119872" y="3749040"/>
            <a:ext cx="2962656" cy="1005840"/>
          </a:xfrm>
          <a:prstGeom prst="rect">
            <a:avLst/>
          </a:prstGeom>
          <a:noFill/>
        </p:spPr>
        <p:txBody>
          <a:bodyPr wrap="square" lIns="0" tIns="0" rIns="0" bIns="0">
            <a:spAutoFit/>
          </a:bodyPr>
          <a:lstStyle/>
          <a:p>
            <a:pPr>
              <a:spcAft>
                <a:spcPts val="400"/>
              </a:spcAft>
              <a:defRPr sz="1200" b="1">
                <a:solidFill>
                  <a:srgbClr val="2563EB"/>
                </a:solidFill>
                <a:latin typeface="Calibri"/>
              </a:defRPr>
            </a:pPr>
            <a:r>
              <a:t>Empirical Evidence</a:t>
            </a:r>
          </a:p>
          <a:p>
            <a:pPr>
              <a:defRPr sz="1000">
                <a:solidFill>
                  <a:srgbClr val="0F172A"/>
                </a:solidFill>
                <a:latin typeface="Calibri"/>
              </a:defRPr>
            </a:pPr>
            <a:r>
              <a:t>+1.72 Leakage Prevention Recovery</a:t>
            </a:r>
            <a:br/>
            <a:r>
              <a:t>37/37 Passing Pytest Regression Suite</a:t>
            </a:r>
          </a:p>
        </p:txBody>
      </p:sp>
      <p:sp>
        <p:nvSpPr>
          <p:cNvPr id="11" name="TextBox 10"/>
          <p:cNvSpPr txBox="1"/>
          <p:nvPr/>
        </p:nvSpPr>
        <p:spPr>
          <a:xfrm>
            <a:off x="914400" y="5303520"/>
            <a:ext cx="10362895" cy="548640"/>
          </a:xfrm>
          <a:prstGeom prst="rect">
            <a:avLst/>
          </a:prstGeom>
          <a:noFill/>
        </p:spPr>
        <p:txBody>
          <a:bodyPr wrap="square" lIns="0" tIns="0" rIns="0" bIns="0">
            <a:spAutoFit/>
          </a:bodyPr>
          <a:lstStyle/>
          <a:p>
            <a:pPr>
              <a:defRPr sz="1100">
                <a:solidFill>
                  <a:srgbClr val="64748B"/>
                </a:solidFill>
                <a:latin typeface="Calibri"/>
              </a:defRPr>
            </a:pPr>
            <a:r>
              <a:t>Thank you for your time and evaluation. The codebase, documentation, model configs, and benchmarks are fully verifiable in the project repository.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